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45"/>
  </p:normalViewPr>
  <p:slideViewPr>
    <p:cSldViewPr snapToGrid="0" snapToObjects="1">
      <p:cViewPr>
        <p:scale>
          <a:sx n="121" d="100"/>
          <a:sy n="121" d="100"/>
        </p:scale>
        <p:origin x="392"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5384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0:10</a:t>
            </a:r>
          </a:p>
          <a:p>
            <a:r>
              <a:t>We’re presenting ZOMBIENEXUS, our upgraded CryptoZombies application. I’ll explain the changes, demonstrate the features live, and finish with testing and limitations.</a:t>
            </a:r>
          </a:p>
          <a:p>
            <a:r>
              <a:t>DEMO CUE: Title, then the prepared browser tabs</a:t>
            </a:r>
          </a:p>
          <a:p>
            <a:r>
              <a:t>BUILD: none</a:t>
            </a:r>
          </a:p>
          <a:p>
            <a:r>
              <a:t>SOURCES: README.md Overview, Technology stack; SPEC.md §2.3</a:t>
            </a:r>
          </a:p>
          <a:p>
            <a:endParaRPr/>
          </a:p>
          <a:p>
            <a:r>
              <a:t>SLOT: 0:00–2:00 before demo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0:20</a:t>
            </a:r>
          </a:p>
          <a:p>
            <a:r>
              <a:t>The starter had several correctness problems. Transfer accounting used the caller instead of the previous owner, approvals survived transfers, and attacks lacked a consistent cooldown check. We fixed these contract behaviors before building the new interface.</a:t>
            </a:r>
          </a:p>
          <a:p>
            <a:r>
              <a:t>DEMO CUE: none</a:t>
            </a:r>
          </a:p>
          <a:p>
            <a:r>
              <a:t>BUILD: Read cards left to right</a:t>
            </a:r>
          </a:p>
          <a:p>
            <a:r>
              <a:t>SOURCES: CHANGES.md Starter bugs fixed; PROJECT.md §9</a:t>
            </a:r>
          </a:p>
          <a:p>
            <a:endParaRPr/>
          </a:p>
          <a:p>
            <a:r>
              <a:t>SLOT: 0:00–2:00 before demo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0:15</a:t>
            </a:r>
          </a:p>
          <a:p>
            <a:r>
              <a:t>We added six main improvements: a React frontend, wallet and network handling, Factory and Army, ownership transfer, hero feeding, and a battle arena. I’ll show each during the demo.</a:t>
            </a:r>
          </a:p>
          <a:p>
            <a:r>
              <a:t>DEMO CUE: Use these six items as the live demonstration checklist</a:t>
            </a:r>
          </a:p>
          <a:p>
            <a:r>
              <a:t>BUILD: Read tiles one through six</a:t>
            </a:r>
          </a:p>
          <a:p>
            <a:r>
              <a:t>SOURCES: README.md Implemented improvements; CHANGES.md Improvements</a:t>
            </a:r>
          </a:p>
          <a:p>
            <a:endParaRPr/>
          </a:p>
          <a:p>
            <a:r>
              <a:t>SLOT: 0:00–2:00 before demo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0:25</a:t>
            </a:r>
          </a:p>
          <a:p>
            <a:r>
              <a:t>The app runs on a local Ganache chain. React reads directly through RPC, while MetaMask signs transactions. ZombieOwnership contains the inherited zombie functionality and connects to our separate AvengerContract. The frontend loads addresses and ABIs from deployment.json instead of embedding addresses in its source.</a:t>
            </a:r>
          </a:p>
          <a:p>
            <a:r>
              <a:t>DEMO CUE: none</a:t>
            </a:r>
          </a:p>
          <a:p>
            <a:r>
              <a:t>BUILD: Follow browser, wallet, chain, then configuration</a:t>
            </a:r>
          </a:p>
          <a:p>
            <a:r>
              <a:t>SOURCES: SPEC.md §§1, 3.3–3.5, 4.3; README.md Architecture</a:t>
            </a:r>
          </a:p>
          <a:p>
            <a:endParaRPr/>
          </a:p>
          <a:p>
            <a:r>
              <a:t>SLOT: 0:00–2:00 before demo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0:25</a:t>
            </a:r>
          </a:p>
          <a:p>
            <a:r>
              <a:t>The important transfer changes are correct owner counts, cleared approvals, and validation that the supplied sender owns the zombie. Battles check readiness before resolving either outcome. Level up now exposes its fee, validates the zombie ID, and emits an event. These changes make behavior easier to verify.</a:t>
            </a:r>
          </a:p>
          <a:p>
            <a:r>
              <a:t>DEMO CUE: none</a:t>
            </a:r>
          </a:p>
          <a:p>
            <a:r>
              <a:t>BUILD: Compare each row before moving to the next</a:t>
            </a:r>
          </a:p>
          <a:p>
            <a:r>
              <a:t>SOURCES: CHANGES.md Starter bugs fixed; SPEC.md §§1.1, 1.3–1.5</a:t>
            </a:r>
          </a:p>
          <a:p>
            <a:endParaRPr/>
          </a:p>
          <a:p>
            <a:r>
              <a:t>SLOT: 0:00–2:00 before demo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0:25</a:t>
            </a:r>
          </a:p>
          <a:p>
            <a:r>
              <a:t>Our local AvengerContract replaces the external CryptoKitties dependency. Feeding creates a hero zombie whose DNA ends in ninety-nine. Battle odds depend on zombie level and Avenger power, bounded between ten and ninety percent. For example, level eight has seventy percent against power four. Let’s demonstrate the application.</a:t>
            </a:r>
          </a:p>
          <a:p>
            <a:r>
              <a:t>DEMO CUE: Run the compressed browser walkthrough for six minutes, from 2:00 to 8:00</a:t>
            </a:r>
          </a:p>
          <a:p>
            <a:r>
              <a:t>BUILD: Formula first, then four examples</a:t>
            </a:r>
          </a:p>
          <a:p>
            <a:r>
              <a:t>SOURCES: SPEC.md §§1.5–1.6, 8.5; README.md Demo walk-through</a:t>
            </a:r>
          </a:p>
          <a:p>
            <a:endParaRPr/>
          </a:p>
          <a:p>
            <a:r>
              <a:t>SLOT: 0:00–2:00 before demo</a:t>
            </a:r>
          </a:p>
          <a:p>
            <a:r>
              <a:t>LIVE DEMO: 2:00–8:00 (6:00, included in total presentation time).</a:t>
            </a:r>
          </a:p>
          <a:p>
            <a:r>
              <a:t>2:00–2:45 Legacy trio</a:t>
            </a:r>
          </a:p>
          <a:p>
            <a:r>
              <a:t>DO: Use account C at /legacy/. Click Create Zombie, Show Zombies and Level Up, confirming the two writes in MetaMask. Show the listed zombie and updated level. Account C must start empty and end owning exactly one zombie.</a:t>
            </a:r>
          </a:p>
          <a:p>
            <a:r>
              <a:t>SAY: I’m starting with the original page. Using our legacy account, I’ll create a zombie, list it, and level it up. This demonstrates that the starter trio still works on Ganache. We kept this page and changed its contract address to match the deployment.</a:t>
            </a:r>
          </a:p>
          <a:p>
            <a:r>
              <a:t>2:45–3:10 React interface, wallet and diagnostics</a:t>
            </a:r>
          </a:p>
          <a:p>
            <a:r>
              <a:t>DO: Open /settings in the React app. Switch to account B if needed and connect. Point to Ganache 1337, the connected wallet and live diagnostics. Briefly narrow the browser to show the navigation adapting, then restore its width. Do not switch networks live.</a:t>
            </a:r>
          </a:p>
          <a:p>
            <a:r>
              <a:t>SAY: Here is the React interface. The wallet and Ganache status are visible, and Settings checks the chain and contract wiring. The navigation also adapts when I narrow the window. Writes use MetaMask, while reads use the direct RPC connection.</a:t>
            </a:r>
          </a:p>
          <a:p>
            <a:r>
              <a:t>3:10–3:55 Factory: preview and live creation</a:t>
            </a:r>
          </a:p>
          <a:p>
            <a:r>
              <a:t>DO: As account B, open /create and type a name. Point to the preview and DNA before clicking Create. Confirm in MetaMask, wait for the receipt, then compare the created zombie DNA to the preview. Do this before B receives a transfer.</a:t>
            </a:r>
          </a:p>
          <a:p>
            <a:r>
              <a:t>SAY: As our fresh account, I’ll type a name and show the DNA preview before signing. Now I’ll create the zombie. After confirmation, I’ll compare the stored DNA with the preview. This connects the frontend calculation to the contract result.</a:t>
            </a:r>
          </a:p>
          <a:p>
            <a:r>
              <a:t>3:55–4:30 Army, filter and level up</a:t>
            </a:r>
          </a:p>
          <a:p>
            <a:r>
              <a:t>DO: Switch to account A. Open /, apply a rarity filter, then clear it. Open /zombie/0 and point to the DNA breakdown. Level up Rotfang once and confirm. Point to the updated level. Leave Rotfang ready for feeding.</a:t>
            </a:r>
          </a:p>
          <a:p>
            <a:r>
              <a:t>SAY: Switching to our main account shows its army. I can filter the collection and inspect the DNA traits. I’ll also level up Rotfang and verify the new level after confirmation. The fee is exposed by the contract, and level up emits an event.</a:t>
            </a:r>
          </a:p>
          <a:p>
            <a:r>
              <a:t>4:30–5:35 Avengers: summon, Infect and hero result</a:t>
            </a:r>
          </a:p>
          <a:p>
            <a:r>
              <a:t>DO: Open /avengers and summon one Avenger, confirming the transaction. Then open /create?tab=infect. Select Rotfang and Thor, show the before/after DNA, click Infect and confirm. Show the new child and DNA ending in 99. Do not claim the child is created until its receipt confirms.</a:t>
            </a:r>
          </a:p>
          <a:p>
            <a:r>
              <a:t>SAY: Avengers live in our own local contract. I’ll summon one, then select Rotfang and Thor in the Infect tab. Before signing, the interface previews the resulting DNA. After confirmation, I’ll show the newly created hero zombie and verify that its DNA ends in ninety-nine. Feeding also puts the parent on cooldown.</a:t>
            </a:r>
          </a:p>
          <a:p>
            <a:r>
              <a:t>5:35–6:35 Avenger battle and PvP</a:t>
            </a:r>
          </a:p>
          <a:p>
            <a:r>
              <a:t>DO: Open /battle. Select Duskwalker against Hawkeye, show 70%, then Thor to show 45%. Choose one and fight, confirming once. Show the event-based result. Next switch to vs Zombies and use Mossbelly against The Warden. Confirm and show the result. Do not reuse Rotfang or Duskwalker for the second fight.</a:t>
            </a:r>
          </a:p>
          <a:p>
            <a:r>
              <a:t>SAY: Duskwalker has seventy percent against Hawkeye and forty-five percent against Thor. I’ll fight one and show the confirmed event result. Next, Mossbelly fights The Warden in PvP, which retains the starter’s seventy-one percent chance. A PvP win creates a child zombie. Either outcome starts a cooldown.</a:t>
            </a:r>
          </a:p>
          <a:p>
            <a:r>
              <a:t>6:35–7:25 Ownership transfer and receiving wallet</a:t>
            </a:r>
          </a:p>
          <a:p>
            <a:r>
              <a:t>DO: As A, open Grimjaw, /zombie/1. Transfer it to account B using B’s prepared public address. Confirm the transfer. Switch to B, open Army and show Grimjaw. This proves receipt by the new owner. Do not use account C as the recipient.</a:t>
            </a:r>
          </a:p>
          <a:p>
            <a:r>
              <a:t>SAY: Finally, I’ll transfer Grimjaw to our second account. After the receipt confirms, I’ll switch wallets and show Grimjaw in the receiving army. This demonstrates the ownership change across both accounts, rather than only showing a success notification.</a:t>
            </a:r>
          </a:p>
          <a:p>
            <a:r>
              <a:t>7:25–7:45 Activity evidence</a:t>
            </a:r>
          </a:p>
          <a:p>
            <a:r>
              <a:t>DO: Open /activity and point to the newly generated Transfer, AvengerFed and battle events. If test output was captured beforehand, briefly show the prepared terminal summary. Do not launch a new test run during the slot.</a:t>
            </a:r>
          </a:p>
          <a:p>
            <a:r>
              <a:t>SAY: Activity now shows the events generated by our actions, including transfer, feeding and battles. These entries let us verify what the contracts recorded. Our test results are prepared separately so we do not spend presentation time running the suite.</a:t>
            </a:r>
          </a:p>
          <a:p>
            <a:r>
              <a:t>7:45–8:00 Transaction and navigation buffer</a:t>
            </a:r>
          </a:p>
          <a:p>
            <a:r>
              <a:t>DO: Use this reserved time for a delayed confirmation or navigation. If everything is complete, return to slide 7 early and preserve the remaining time as finishing margin.</a:t>
            </a:r>
          </a:p>
          <a:p>
            <a:r>
              <a:t>SAY: </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0:10</a:t>
            </a:r>
          </a:p>
          <a:p>
            <a:r>
              <a:t>These captures show Army, Factory, zombie details, wallet connection, level-up approval and transfer confirmation. They summarize the interface demonstrated live.</a:t>
            </a:r>
          </a:p>
          <a:p>
            <a:r>
              <a:t>DEMO CUE: Return from the live demonstration to this interface recap</a:t>
            </a:r>
          </a:p>
          <a:p>
            <a:r>
              <a:t>BUILD: none</a:t>
            </a:r>
          </a:p>
          <a:p>
            <a:r>
              <a:t>SOURCES: README.md Main front end features; user Screenshots folder</a:t>
            </a:r>
          </a:p>
          <a:p>
            <a:endParaRPr/>
          </a:p>
          <a:p>
            <a:r>
              <a:t>SLOT: 8:00–10:00 after demo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0:15</a:t>
            </a:r>
          </a:p>
          <a:p>
            <a:r>
              <a:t>Wallet state and transaction state are separate. We distinguish missing wallets, network problems and unavailable contracts. A transaction succeeds only when its receipt status is one, and errors produce readable guidance.</a:t>
            </a:r>
          </a:p>
          <a:p>
            <a:r>
              <a:t>DEMO CUE: Recall the wallet status, transaction stepper and diagnostics seen live</a:t>
            </a:r>
          </a:p>
          <a:p>
            <a:r>
              <a:t>BUILD: Wallet path first, then transaction path and errors</a:t>
            </a:r>
          </a:p>
          <a:p>
            <a:r>
              <a:t>SOURCES: SPEC.md §§4.2–4.3</a:t>
            </a:r>
          </a:p>
          <a:p>
            <a:endParaRPr/>
          </a:p>
          <a:p>
            <a:r>
              <a:t>SLOT: 8:00–10:00 after demo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0:10</a:t>
            </a:r>
          </a:p>
          <a:p>
            <a:r>
              <a:t>Both battle modes use on-chain results. The animation presents the event outcome, and the interface shows the odds before signing.</a:t>
            </a:r>
          </a:p>
          <a:p>
            <a:r>
              <a:t>DEMO CUE: Duskwalker versus an Avenger, then Mossbelly versus The Warden</a:t>
            </a:r>
          </a:p>
          <a:p>
            <a:r>
              <a:t>BUILD: none</a:t>
            </a:r>
          </a:p>
          <a:p>
            <a:r>
              <a:t>SOURCES: SPEC.md §§1.5, 6; README.md Demo walk-through</a:t>
            </a:r>
          </a:p>
          <a:p>
            <a:endParaRPr/>
          </a:p>
          <a:p>
            <a:r>
              <a:t>SLOT: 8:00–10:00 after demo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0:15</a:t>
            </a:r>
          </a:p>
          <a:p>
            <a:r>
              <a:t>The documented suite contains thirty Truffle scenarios and forty-seven frontend tests. Battle tests recompute the random roll, and DNA tests check that preview calculations match the expected contract values.</a:t>
            </a:r>
          </a:p>
          <a:p>
            <a:r>
              <a:t>DEMO CUE: Explain the documented counts. The user images show UI outcomes, not test-run output.</a:t>
            </a:r>
          </a:p>
          <a:p>
            <a:r>
              <a:t>BUILD: Read counts, then the properties they check</a:t>
            </a:r>
          </a:p>
          <a:p>
            <a:r>
              <a:t>SOURCES: CHANGES.md Improvements; README.md Testing; SPEC.md §8</a:t>
            </a:r>
          </a:p>
          <a:p>
            <a:endParaRPr/>
          </a:p>
          <a:p>
            <a:r>
              <a:t>SLOT: 8:00–10:00 after demo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0:10</a:t>
            </a:r>
          </a:p>
          <a:p>
            <a:r>
              <a:t>The demo command prepares and serves the application. Snapshot and restore return the chain to a saved state for repeatable demonstrations.</a:t>
            </a:r>
          </a:p>
          <a:p>
            <a:r>
              <a:t>DEMO CUE: Show npm run check output and the prepared startup terminal</a:t>
            </a:r>
          </a:p>
          <a:p>
            <a:r>
              <a:t>BUILD: none</a:t>
            </a:r>
          </a:p>
          <a:p>
            <a:r>
              <a:t>SOURCES: README.md Run on a new Mac, Other commands, MetaMask setup</a:t>
            </a:r>
          </a:p>
          <a:p>
            <a:endParaRPr/>
          </a:p>
          <a:p>
            <a:r>
              <a:t>SLOT: 8:00–10:00 after demo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0:25</a:t>
            </a:r>
          </a:p>
          <a:p>
            <a:r>
              <a:t>This map connects each improvement to what we demonstrated: the interface, wallet status, creation and Army, transfer, hero feeding, and battles. We understand that credit requires showing the features working, and that grading considers overall team performance compared with peers. We are not claiming a guaranteed score.</a:t>
            </a:r>
          </a:p>
          <a:p>
            <a:r>
              <a:t>DEMO CUE: Verify all six improvements were shown, including transfer and hero creation</a:t>
            </a:r>
          </a:p>
          <a:p>
            <a:r>
              <a:t>BUILD: Baseline first, then each improvement and its live proof</a:t>
            </a:r>
          </a:p>
          <a:p>
            <a:r>
              <a:t>SOURCES: SPEC.md §7; PROJECT.md §11; README.md Demo walk-through; user grading clarification</a:t>
            </a:r>
          </a:p>
          <a:p>
            <a:endParaRPr/>
          </a:p>
          <a:p>
            <a:r>
              <a:t>SLOT: 8:00–10:00 after demo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0:20</a:t>
            </a:r>
          </a:p>
          <a:p>
            <a:r>
              <a:t>This is a local educational demo. Randomness is predictable, anyone can pay to level up, and open Avenger genes allow easy opponents. PvP retains the starter’s seventy-one percent probability. The fixes illustrate why ownership checks and consistent preconditions matter.</a:t>
            </a:r>
          </a:p>
          <a:p>
            <a:r>
              <a:t>DEMO CUE: Mention these limitations while wrapping up the live walkthrough</a:t>
            </a:r>
          </a:p>
          <a:p>
            <a:r>
              <a:t>BUILD: Limits first, then lessons</a:t>
            </a:r>
          </a:p>
          <a:p>
            <a:r>
              <a:t>SOURCES: CHANGES.md Known limitations; PROJECT.md §9</a:t>
            </a:r>
          </a:p>
          <a:p>
            <a:r>
              <a:t>TODO: confirm lessons with the team</a:t>
            </a:r>
          </a:p>
          <a:p>
            <a:r>
              <a:t>SLOT: 8:00–10:00 after demo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0:15</a:t>
            </a:r>
          </a:p>
          <a:p>
            <a:r>
              <a:t>Our repository includes setup instructions and a repeatable demo workflow. We’re ready for questions about the contracts, implementation choices, or limitations. Thank you.</a:t>
            </a:r>
          </a:p>
          <a:p>
            <a:r>
              <a:t>DEMO CUE: none</a:t>
            </a:r>
          </a:p>
          <a:p>
            <a:r>
              <a:t>BUILD: none</a:t>
            </a:r>
          </a:p>
          <a:p>
            <a:r>
              <a:t>SOURCES: CHANGES.md Known limitations; README.md Requirements, Other commands</a:t>
            </a:r>
          </a:p>
          <a:p>
            <a:endParaRPr/>
          </a:p>
          <a:p>
            <a:r>
              <a:t>SLOT: 8:00–10:00 after demo</a:t>
            </a:r>
          </a:p>
          <a:p>
            <a:r>
              <a:t>PRESENTER BACKUP: I am ready to answer questions about the boundaries of the implementation. Why predictable randomness? We retained the starter approach for this local demo. Who can level up? Any address that pays the fee. Can anyone create an Avenger? Yes, with any genes. Why are approve and transfer payable? Those signatures came from the starter, and sent ETH stays until withdrawal. Is the Avenger contract trusted? Yes, the owner sets it. Deployment here is Ganache only.</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endParaRP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01</a:t>
            </a:r>
          </a:p>
        </p:txBody>
      </p:sp>
      <p:sp>
        <p:nvSpPr>
          <p:cNvPr id="7" name="TextBox 6"/>
          <p:cNvSpPr txBox="1"/>
          <p:nvPr/>
        </p:nvSpPr>
        <p:spPr>
          <a:xfrm>
            <a:off x="777240" y="484632"/>
            <a:ext cx="7315200" cy="5943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ZOMBIE</a:t>
            </a:r>
            <a:r>
              <a:rPr sz="3600" b="1">
                <a:solidFill>
                  <a:srgbClr val="39FF88"/>
                </a:solidFill>
                <a:latin typeface="Space Grotesk"/>
              </a:rPr>
              <a:t>NEXUS</a:t>
            </a:r>
          </a:p>
        </p:txBody>
      </p:sp>
      <p:sp>
        <p:nvSpPr>
          <p:cNvPr id="8" name="TextBox 7"/>
          <p:cNvSpPr txBox="1"/>
          <p:nvPr/>
        </p:nvSpPr>
        <p:spPr>
          <a:xfrm>
            <a:off x="777240" y="1417320"/>
            <a:ext cx="9144000" cy="457200"/>
          </a:xfrm>
          <a:prstGeom prst="rect">
            <a:avLst/>
          </a:prstGeom>
          <a:noFill/>
        </p:spPr>
        <p:txBody>
          <a:bodyPr wrap="square" lIns="13716" tIns="0" rIns="13716" bIns="0">
            <a:spAutoFit/>
          </a:bodyPr>
          <a:lstStyle/>
          <a:p>
            <a:pPr>
              <a:spcAft>
                <a:spcPts val="300"/>
              </a:spcAft>
              <a:defRPr sz="2600" b="1">
                <a:solidFill>
                  <a:srgbClr val="E8ECF1"/>
                </a:solidFill>
                <a:latin typeface="Space Grotesk"/>
              </a:defRPr>
            </a:pPr>
            <a:r>
              <a:t>CryptoZombies, fixed and upgraded</a:t>
            </a:r>
          </a:p>
        </p:txBody>
      </p:sp>
      <p:sp>
        <p:nvSpPr>
          <p:cNvPr id="9" name="TextBox 8"/>
          <p:cNvSpPr txBox="1"/>
          <p:nvPr/>
        </p:nvSpPr>
        <p:spPr>
          <a:xfrm>
            <a:off x="777240" y="1965960"/>
            <a:ext cx="10698480" cy="50292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Solidity 0.4.25 + React + MetaMask on a local Ganache chain</a:t>
            </a:r>
          </a:p>
        </p:txBody>
      </p:sp>
      <p:sp>
        <p:nvSpPr>
          <p:cNvPr id="10" name="TextBox 9"/>
          <p:cNvSpPr txBox="1"/>
          <p:nvPr/>
        </p:nvSpPr>
        <p:spPr>
          <a:xfrm>
            <a:off x="777240" y="2606040"/>
            <a:ext cx="10058400" cy="36576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CSUF Advanced Blockchain midterm</a:t>
            </a:r>
          </a:p>
        </p:txBody>
      </p:sp>
      <p:sp>
        <p:nvSpPr>
          <p:cNvPr id="11" name="Rounded Rectangle 10"/>
          <p:cNvSpPr/>
          <p:nvPr/>
        </p:nvSpPr>
        <p:spPr>
          <a:xfrm>
            <a:off x="777240" y="3337560"/>
            <a:ext cx="3337560" cy="2194560"/>
          </a:xfrm>
          <a:prstGeom prst="roundRect">
            <a:avLst>
              <a:gd name="adj" fmla="val 8000"/>
            </a:avLst>
          </a:prstGeom>
          <a:solidFill>
            <a:srgbClr val="12151A">
              <a:alpha val="77000"/>
            </a:srgbClr>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3611880"/>
            <a:ext cx="2926080" cy="320040"/>
          </a:xfrm>
          <a:prstGeom prst="rect">
            <a:avLst/>
          </a:prstGeom>
          <a:noFill/>
        </p:spPr>
        <p:txBody>
          <a:bodyPr wrap="square" lIns="13716" tIns="0" rIns="13716" bIns="0">
            <a:spAutoFit/>
          </a:bodyPr>
          <a:lstStyle/>
          <a:p>
            <a:pPr>
              <a:spcAft>
                <a:spcPts val="300"/>
              </a:spcAft>
              <a:defRPr sz="1800" b="1">
                <a:solidFill>
                  <a:srgbClr val="E8ECF1"/>
                </a:solidFill>
                <a:latin typeface="Space Grotesk"/>
              </a:defRPr>
            </a:pPr>
            <a:r>
              <a:t>COMMON</a:t>
            </a:r>
          </a:p>
        </p:txBody>
      </p:sp>
      <p:sp>
        <p:nvSpPr>
          <p:cNvPr id="13" name="TextBox 12"/>
          <p:cNvSpPr txBox="1"/>
          <p:nvPr/>
        </p:nvSpPr>
        <p:spPr>
          <a:xfrm>
            <a:off x="978408" y="4251960"/>
            <a:ext cx="2926080" cy="365760"/>
          </a:xfrm>
          <a:prstGeom prst="rect">
            <a:avLst/>
          </a:prstGeom>
          <a:noFill/>
        </p:spPr>
        <p:txBody>
          <a:bodyPr wrap="square" lIns="13716" tIns="0" rIns="13716" bIns="0">
            <a:spAutoFit/>
          </a:bodyPr>
          <a:lstStyle/>
          <a:p>
            <a:pPr>
              <a:spcAft>
                <a:spcPts val="300"/>
              </a:spcAft>
              <a:defRPr sz="1600" b="0">
                <a:solidFill>
                  <a:srgbClr val="E8ECF1"/>
                </a:solidFill>
                <a:latin typeface="Menlo"/>
              </a:defRPr>
            </a:pPr>
            <a:r>
              <a:t>2521625881949400</a:t>
            </a:r>
          </a:p>
        </p:txBody>
      </p:sp>
      <p:sp>
        <p:nvSpPr>
          <p:cNvPr id="14" name="TextBox 13"/>
          <p:cNvSpPr txBox="1"/>
          <p:nvPr/>
        </p:nvSpPr>
        <p:spPr>
          <a:xfrm>
            <a:off x="978408" y="4892040"/>
            <a:ext cx="2926080" cy="32004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DNA defines the character</a:t>
            </a:r>
          </a:p>
        </p:txBody>
      </p:sp>
      <p:sp>
        <p:nvSpPr>
          <p:cNvPr id="15" name="Rounded Rectangle 14"/>
          <p:cNvSpPr/>
          <p:nvPr/>
        </p:nvSpPr>
        <p:spPr>
          <a:xfrm>
            <a:off x="4453127" y="3337560"/>
            <a:ext cx="3337560" cy="2194560"/>
          </a:xfrm>
          <a:prstGeom prst="roundRect">
            <a:avLst>
              <a:gd name="adj" fmla="val 8000"/>
            </a:avLst>
          </a:prstGeom>
          <a:solidFill>
            <a:srgbClr val="12151A">
              <a:alpha val="77000"/>
            </a:srgbClr>
          </a:solidFill>
          <a:ln w="9525">
            <a:solidFill>
              <a:srgbClr val="F2C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54295" y="3611880"/>
            <a:ext cx="2926080" cy="320040"/>
          </a:xfrm>
          <a:prstGeom prst="rect">
            <a:avLst/>
          </a:prstGeom>
          <a:noFill/>
        </p:spPr>
        <p:txBody>
          <a:bodyPr wrap="square" lIns="13716" tIns="0" rIns="13716" bIns="0">
            <a:spAutoFit/>
          </a:bodyPr>
          <a:lstStyle/>
          <a:p>
            <a:pPr>
              <a:spcAft>
                <a:spcPts val="300"/>
              </a:spcAft>
              <a:defRPr sz="1800" b="1">
                <a:solidFill>
                  <a:srgbClr val="E8ECF1"/>
                </a:solidFill>
                <a:latin typeface="Space Grotesk"/>
              </a:defRPr>
            </a:pPr>
            <a:r>
              <a:t>RARE</a:t>
            </a:r>
          </a:p>
        </p:txBody>
      </p:sp>
      <p:sp>
        <p:nvSpPr>
          <p:cNvPr id="17" name="TextBox 16"/>
          <p:cNvSpPr txBox="1"/>
          <p:nvPr/>
        </p:nvSpPr>
        <p:spPr>
          <a:xfrm>
            <a:off x="4654295" y="4251960"/>
            <a:ext cx="2926080" cy="365760"/>
          </a:xfrm>
          <a:prstGeom prst="rect">
            <a:avLst/>
          </a:prstGeom>
          <a:noFill/>
        </p:spPr>
        <p:txBody>
          <a:bodyPr wrap="square" lIns="13716" tIns="0" rIns="13716" bIns="0">
            <a:spAutoFit/>
          </a:bodyPr>
          <a:lstStyle/>
          <a:p>
            <a:pPr>
              <a:spcAft>
                <a:spcPts val="300"/>
              </a:spcAft>
              <a:defRPr sz="1600" b="0">
                <a:solidFill>
                  <a:srgbClr val="E8ECF1"/>
                </a:solidFill>
                <a:latin typeface="Menlo"/>
              </a:defRPr>
            </a:pPr>
            <a:r>
              <a:t>9343918324261100</a:t>
            </a:r>
          </a:p>
        </p:txBody>
      </p:sp>
      <p:sp>
        <p:nvSpPr>
          <p:cNvPr id="18" name="TextBox 17"/>
          <p:cNvSpPr txBox="1"/>
          <p:nvPr/>
        </p:nvSpPr>
        <p:spPr>
          <a:xfrm>
            <a:off x="4654295" y="4892040"/>
            <a:ext cx="2926080" cy="32004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DNA defines the character</a:t>
            </a:r>
          </a:p>
        </p:txBody>
      </p:sp>
      <p:sp>
        <p:nvSpPr>
          <p:cNvPr id="19" name="Rounded Rectangle 18"/>
          <p:cNvSpPr/>
          <p:nvPr/>
        </p:nvSpPr>
        <p:spPr>
          <a:xfrm>
            <a:off x="8129015" y="3337560"/>
            <a:ext cx="3337560" cy="2194560"/>
          </a:xfrm>
          <a:prstGeom prst="roundRect">
            <a:avLst>
              <a:gd name="adj" fmla="val 8000"/>
            </a:avLst>
          </a:prstGeom>
          <a:solidFill>
            <a:srgbClr val="12151A">
              <a:alpha val="77000"/>
            </a:srgbClr>
          </a:solidFill>
          <a:ln w="9525">
            <a:solidFill>
              <a:srgbClr val="8E7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0183" y="3611880"/>
            <a:ext cx="2926080" cy="320040"/>
          </a:xfrm>
          <a:prstGeom prst="rect">
            <a:avLst/>
          </a:prstGeom>
          <a:noFill/>
        </p:spPr>
        <p:txBody>
          <a:bodyPr wrap="square" lIns="13716" tIns="0" rIns="13716" bIns="0">
            <a:spAutoFit/>
          </a:bodyPr>
          <a:lstStyle/>
          <a:p>
            <a:pPr>
              <a:spcAft>
                <a:spcPts val="300"/>
              </a:spcAft>
              <a:defRPr sz="1800" b="1">
                <a:solidFill>
                  <a:srgbClr val="E8ECF1"/>
                </a:solidFill>
                <a:latin typeface="Space Grotesk"/>
              </a:defRPr>
            </a:pPr>
            <a:r>
              <a:t>HERO</a:t>
            </a:r>
          </a:p>
        </p:txBody>
      </p:sp>
      <p:sp>
        <p:nvSpPr>
          <p:cNvPr id="21" name="TextBox 20"/>
          <p:cNvSpPr txBox="1"/>
          <p:nvPr/>
        </p:nvSpPr>
        <p:spPr>
          <a:xfrm>
            <a:off x="8330183" y="4251960"/>
            <a:ext cx="2926080" cy="365760"/>
          </a:xfrm>
          <a:prstGeom prst="rect">
            <a:avLst/>
          </a:prstGeom>
          <a:noFill/>
        </p:spPr>
        <p:txBody>
          <a:bodyPr wrap="square" lIns="13716" tIns="0" rIns="13716" bIns="0">
            <a:spAutoFit/>
          </a:bodyPr>
          <a:lstStyle/>
          <a:p>
            <a:pPr>
              <a:spcAft>
                <a:spcPts val="300"/>
              </a:spcAft>
              <a:defRPr sz="1600" b="0">
                <a:solidFill>
                  <a:srgbClr val="E8ECF1"/>
                </a:solidFill>
                <a:latin typeface="Menlo"/>
              </a:defRPr>
            </a:pPr>
            <a:r>
              <a:t>6212148620395099</a:t>
            </a:r>
          </a:p>
        </p:txBody>
      </p:sp>
      <p:sp>
        <p:nvSpPr>
          <p:cNvPr id="22" name="TextBox 21"/>
          <p:cNvSpPr txBox="1"/>
          <p:nvPr/>
        </p:nvSpPr>
        <p:spPr>
          <a:xfrm>
            <a:off x="8330183" y="4892040"/>
            <a:ext cx="2926080" cy="32004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DNA defines the character</a:t>
            </a:r>
          </a:p>
        </p:txBody>
      </p:sp>
      <p:sp>
        <p:nvSpPr>
          <p:cNvPr id="23" name="TextBox 22"/>
          <p:cNvSpPr txBox="1"/>
          <p:nvPr/>
        </p:nvSpPr>
        <p:spPr>
          <a:xfrm>
            <a:off x="777240" y="5934456"/>
            <a:ext cx="10698480" cy="36576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Dhruvi Kothari    Het Siddhapura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Starter bugs</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02</a:t>
            </a:r>
          </a:p>
        </p:txBody>
      </p:sp>
      <p:sp>
        <p:nvSpPr>
          <p:cNvPr id="7" name="TextBox 6"/>
          <p:cNvSpPr txBox="1"/>
          <p:nvPr/>
        </p:nvSpPr>
        <p:spPr>
          <a:xfrm>
            <a:off x="758952" y="1234440"/>
            <a:ext cx="10789920" cy="365760"/>
          </a:xfrm>
          <a:prstGeom prst="rect">
            <a:avLst/>
          </a:prstGeom>
          <a:noFill/>
        </p:spPr>
        <p:txBody>
          <a:bodyPr wrap="square" lIns="13716" tIns="0" rIns="13716" bIns="0">
            <a:spAutoFit/>
          </a:bodyPr>
          <a:lstStyle/>
          <a:p>
            <a:pPr>
              <a:spcAft>
                <a:spcPts val="300"/>
              </a:spcAft>
              <a:defRPr sz="2000" b="0">
                <a:solidFill>
                  <a:srgbClr val="9AA4B2"/>
                </a:solidFill>
                <a:latin typeface="Inter"/>
              </a:defRPr>
            </a:pPr>
            <a:r>
              <a:t>The starter works, until you look closely</a:t>
            </a:r>
          </a:p>
        </p:txBody>
      </p:sp>
      <p:sp>
        <p:nvSpPr>
          <p:cNvPr id="8" name="Rounded Rectangle 7"/>
          <p:cNvSpPr/>
          <p:nvPr/>
        </p:nvSpPr>
        <p:spPr>
          <a:xfrm>
            <a:off x="548640" y="1874519"/>
            <a:ext cx="3547872" cy="2971800"/>
          </a:xfrm>
          <a:prstGeom prst="roundRect">
            <a:avLst>
              <a:gd name="adj" fmla="val 8000"/>
            </a:avLst>
          </a:prstGeom>
          <a:solidFill>
            <a:srgbClr val="12151A">
              <a:alpha val="77000"/>
            </a:srgbClr>
          </a:solidFill>
          <a:ln w="9525">
            <a:solidFill>
              <a:srgbClr val="FF5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2148840"/>
            <a:ext cx="3108960" cy="685800"/>
          </a:xfrm>
          <a:prstGeom prst="rect">
            <a:avLst/>
          </a:prstGeom>
          <a:noFill/>
        </p:spPr>
        <p:txBody>
          <a:bodyPr wrap="square" lIns="13716" tIns="0" rIns="13716" bIns="0">
            <a:spAutoFit/>
          </a:bodyPr>
          <a:lstStyle/>
          <a:p>
            <a:pPr>
              <a:spcAft>
                <a:spcPts val="300"/>
              </a:spcAft>
              <a:defRPr sz="2200" b="1">
                <a:solidFill>
                  <a:srgbClr val="E8ECF1"/>
                </a:solidFill>
                <a:latin typeface="Space Grotesk"/>
              </a:defRPr>
            </a:pPr>
            <a:r>
              <a:t>Transfer accounting</a:t>
            </a:r>
          </a:p>
        </p:txBody>
      </p:sp>
      <p:sp>
        <p:nvSpPr>
          <p:cNvPr id="10" name="TextBox 9"/>
          <p:cNvSpPr txBox="1"/>
          <p:nvPr/>
        </p:nvSpPr>
        <p:spPr>
          <a:xfrm>
            <a:off x="749808" y="2990088"/>
            <a:ext cx="3108960" cy="77724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Count follows the caller</a:t>
            </a:r>
          </a:p>
        </p:txBody>
      </p:sp>
      <p:sp>
        <p:nvSpPr>
          <p:cNvPr id="11" name="TextBox 10"/>
          <p:cNvSpPr txBox="1"/>
          <p:nvPr/>
        </p:nvSpPr>
        <p:spPr>
          <a:xfrm>
            <a:off x="749808" y="4005072"/>
            <a:ext cx="3108960" cy="640080"/>
          </a:xfrm>
          <a:prstGeom prst="rect">
            <a:avLst/>
          </a:prstGeom>
          <a:noFill/>
        </p:spPr>
        <p:txBody>
          <a:bodyPr wrap="square" lIns="13716" tIns="0" rIns="13716" bIns="0">
            <a:spAutoFit/>
          </a:bodyPr>
          <a:lstStyle/>
          <a:p>
            <a:pPr>
              <a:spcAft>
                <a:spcPts val="300"/>
              </a:spcAft>
              <a:defRPr sz="1400" b="0">
                <a:solidFill>
                  <a:srgbClr val="FF5C6C"/>
                </a:solidFill>
                <a:latin typeface="Menlo"/>
              </a:defRPr>
            </a:pPr>
            <a:r>
              <a:t>ownerZombieCount[msg.sender]</a:t>
            </a:r>
          </a:p>
        </p:txBody>
      </p:sp>
      <p:sp>
        <p:nvSpPr>
          <p:cNvPr id="12" name="Rounded Rectangle 11"/>
          <p:cNvSpPr/>
          <p:nvPr/>
        </p:nvSpPr>
        <p:spPr>
          <a:xfrm>
            <a:off x="4325112" y="1874519"/>
            <a:ext cx="3547872" cy="2971800"/>
          </a:xfrm>
          <a:prstGeom prst="roundRect">
            <a:avLst>
              <a:gd name="adj" fmla="val 8000"/>
            </a:avLst>
          </a:prstGeom>
          <a:solidFill>
            <a:srgbClr val="12151A">
              <a:alpha val="77000"/>
            </a:srgbClr>
          </a:solidFill>
          <a:ln w="9525">
            <a:solidFill>
              <a:srgbClr val="FF5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79" y="2148840"/>
            <a:ext cx="3108960" cy="685800"/>
          </a:xfrm>
          <a:prstGeom prst="rect">
            <a:avLst/>
          </a:prstGeom>
          <a:noFill/>
        </p:spPr>
        <p:txBody>
          <a:bodyPr wrap="square" lIns="13716" tIns="0" rIns="13716" bIns="0">
            <a:spAutoFit/>
          </a:bodyPr>
          <a:lstStyle/>
          <a:p>
            <a:pPr>
              <a:spcAft>
                <a:spcPts val="300"/>
              </a:spcAft>
              <a:defRPr sz="2200" b="1">
                <a:solidFill>
                  <a:srgbClr val="E8ECF1"/>
                </a:solidFill>
                <a:latin typeface="Space Grotesk"/>
              </a:defRPr>
            </a:pPr>
            <a:r>
              <a:t>Stale approval</a:t>
            </a:r>
          </a:p>
        </p:txBody>
      </p:sp>
      <p:sp>
        <p:nvSpPr>
          <p:cNvPr id="14" name="TextBox 13"/>
          <p:cNvSpPr txBox="1"/>
          <p:nvPr/>
        </p:nvSpPr>
        <p:spPr>
          <a:xfrm>
            <a:off x="4526279" y="2990088"/>
            <a:ext cx="3108960" cy="77724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Approval survives ownership change</a:t>
            </a:r>
          </a:p>
        </p:txBody>
      </p:sp>
      <p:sp>
        <p:nvSpPr>
          <p:cNvPr id="15" name="TextBox 14"/>
          <p:cNvSpPr txBox="1"/>
          <p:nvPr/>
        </p:nvSpPr>
        <p:spPr>
          <a:xfrm>
            <a:off x="4526279" y="4005072"/>
            <a:ext cx="3108960" cy="640080"/>
          </a:xfrm>
          <a:prstGeom prst="rect">
            <a:avLst/>
          </a:prstGeom>
          <a:noFill/>
        </p:spPr>
        <p:txBody>
          <a:bodyPr wrap="square" lIns="13716" tIns="0" rIns="13716" bIns="0">
            <a:spAutoFit/>
          </a:bodyPr>
          <a:lstStyle/>
          <a:p>
            <a:pPr>
              <a:spcAft>
                <a:spcPts val="300"/>
              </a:spcAft>
              <a:defRPr sz="1400" b="0">
                <a:solidFill>
                  <a:srgbClr val="FF5C6C"/>
                </a:solidFill>
                <a:latin typeface="Menlo"/>
              </a:defRPr>
            </a:pPr>
            <a:r>
              <a:t>Approvals never cleared</a:t>
            </a:r>
          </a:p>
        </p:txBody>
      </p:sp>
      <p:sp>
        <p:nvSpPr>
          <p:cNvPr id="16" name="Rounded Rectangle 15"/>
          <p:cNvSpPr/>
          <p:nvPr/>
        </p:nvSpPr>
        <p:spPr>
          <a:xfrm>
            <a:off x="8101583" y="1874519"/>
            <a:ext cx="3547872" cy="2971800"/>
          </a:xfrm>
          <a:prstGeom prst="roundRect">
            <a:avLst>
              <a:gd name="adj" fmla="val 8000"/>
            </a:avLst>
          </a:prstGeom>
          <a:solidFill>
            <a:srgbClr val="12151A">
              <a:alpha val="77000"/>
            </a:srgbClr>
          </a:solidFill>
          <a:ln w="9525">
            <a:solidFill>
              <a:srgbClr val="FF5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02752" y="2148840"/>
            <a:ext cx="3108960" cy="685800"/>
          </a:xfrm>
          <a:prstGeom prst="rect">
            <a:avLst/>
          </a:prstGeom>
          <a:noFill/>
        </p:spPr>
        <p:txBody>
          <a:bodyPr wrap="square" lIns="13716" tIns="0" rIns="13716" bIns="0">
            <a:spAutoFit/>
          </a:bodyPr>
          <a:lstStyle/>
          <a:p>
            <a:pPr>
              <a:spcAft>
                <a:spcPts val="300"/>
              </a:spcAft>
              <a:defRPr sz="2200" b="1">
                <a:solidFill>
                  <a:srgbClr val="E8ECF1"/>
                </a:solidFill>
                <a:latin typeface="Space Grotesk"/>
              </a:defRPr>
            </a:pPr>
            <a:r>
              <a:t>Attack readiness</a:t>
            </a:r>
          </a:p>
        </p:txBody>
      </p:sp>
      <p:sp>
        <p:nvSpPr>
          <p:cNvPr id="18" name="TextBox 17"/>
          <p:cNvSpPr txBox="1"/>
          <p:nvPr/>
        </p:nvSpPr>
        <p:spPr>
          <a:xfrm>
            <a:off x="8302752" y="2990088"/>
            <a:ext cx="3108960" cy="77724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Loss succeeds during cooldown</a:t>
            </a:r>
          </a:p>
        </p:txBody>
      </p:sp>
      <p:sp>
        <p:nvSpPr>
          <p:cNvPr id="19" name="TextBox 18"/>
          <p:cNvSpPr txBox="1"/>
          <p:nvPr/>
        </p:nvSpPr>
        <p:spPr>
          <a:xfrm>
            <a:off x="8302752" y="4005072"/>
            <a:ext cx="3108960" cy="640080"/>
          </a:xfrm>
          <a:prstGeom prst="rect">
            <a:avLst/>
          </a:prstGeom>
          <a:noFill/>
        </p:spPr>
        <p:txBody>
          <a:bodyPr wrap="square" lIns="13716" tIns="0" rIns="13716" bIns="0">
            <a:spAutoFit/>
          </a:bodyPr>
          <a:lstStyle/>
          <a:p>
            <a:pPr>
              <a:spcAft>
                <a:spcPts val="300"/>
              </a:spcAft>
              <a:defRPr sz="1400" b="0">
                <a:solidFill>
                  <a:srgbClr val="FF5C6C"/>
                </a:solidFill>
                <a:latin typeface="Menlo"/>
              </a:defRPr>
            </a:pPr>
            <a:r>
              <a:t>No readiness check</a:t>
            </a:r>
          </a:p>
        </p:txBody>
      </p:sp>
      <p:sp>
        <p:nvSpPr>
          <p:cNvPr id="20" name="TextBox 19"/>
          <p:cNvSpPr txBox="1"/>
          <p:nvPr/>
        </p:nvSpPr>
        <p:spPr>
          <a:xfrm>
            <a:off x="731520" y="5321808"/>
            <a:ext cx="10698480" cy="50292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Also: unchecked _from and a hard-coded legacy address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What we built</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03</a:t>
            </a:r>
          </a:p>
        </p:txBody>
      </p:sp>
      <p:sp>
        <p:nvSpPr>
          <p:cNvPr id="7" name="Rounded Rectangle 6"/>
          <p:cNvSpPr/>
          <p:nvPr/>
        </p:nvSpPr>
        <p:spPr>
          <a:xfrm>
            <a:off x="548640" y="1609344"/>
            <a:ext cx="3547872" cy="192024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83080"/>
            <a:ext cx="457200" cy="457200"/>
          </a:xfrm>
          <a:prstGeom prst="rect">
            <a:avLst/>
          </a:prstGeom>
          <a:noFill/>
        </p:spPr>
        <p:txBody>
          <a:bodyPr wrap="square" lIns="13716" tIns="0" rIns="13716" bIns="0">
            <a:spAutoFit/>
          </a:bodyPr>
          <a:lstStyle/>
          <a:p>
            <a:pPr>
              <a:spcAft>
                <a:spcPts val="300"/>
              </a:spcAft>
              <a:defRPr sz="2800" b="1">
                <a:solidFill>
                  <a:srgbClr val="39FF88"/>
                </a:solidFill>
                <a:latin typeface="Space Grotesk"/>
              </a:defRPr>
            </a:pPr>
            <a:r>
              <a:t>1</a:t>
            </a:r>
          </a:p>
        </p:txBody>
      </p:sp>
      <p:sp>
        <p:nvSpPr>
          <p:cNvPr id="9" name="TextBox 8"/>
          <p:cNvSpPr txBox="1"/>
          <p:nvPr/>
        </p:nvSpPr>
        <p:spPr>
          <a:xfrm>
            <a:off x="731520" y="2368296"/>
            <a:ext cx="3182112" cy="429768"/>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React frontend</a:t>
            </a:r>
          </a:p>
        </p:txBody>
      </p:sp>
      <p:sp>
        <p:nvSpPr>
          <p:cNvPr id="10" name="TextBox 9"/>
          <p:cNvSpPr txBox="1"/>
          <p:nvPr/>
        </p:nvSpPr>
        <p:spPr>
          <a:xfrm>
            <a:off x="731520" y="2916936"/>
            <a:ext cx="3182112" cy="41148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Responsive pages and DNA art</a:t>
            </a:r>
          </a:p>
        </p:txBody>
      </p:sp>
      <p:sp>
        <p:nvSpPr>
          <p:cNvPr id="11" name="Rounded Rectangle 10"/>
          <p:cNvSpPr/>
          <p:nvPr/>
        </p:nvSpPr>
        <p:spPr>
          <a:xfrm>
            <a:off x="4325112" y="1609344"/>
            <a:ext cx="3547872" cy="192024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7992" y="1783080"/>
            <a:ext cx="457200" cy="457200"/>
          </a:xfrm>
          <a:prstGeom prst="rect">
            <a:avLst/>
          </a:prstGeom>
          <a:noFill/>
        </p:spPr>
        <p:txBody>
          <a:bodyPr wrap="square" lIns="13716" tIns="0" rIns="13716" bIns="0">
            <a:spAutoFit/>
          </a:bodyPr>
          <a:lstStyle/>
          <a:p>
            <a:pPr>
              <a:spcAft>
                <a:spcPts val="300"/>
              </a:spcAft>
              <a:defRPr sz="2800" b="1">
                <a:solidFill>
                  <a:srgbClr val="39FF88"/>
                </a:solidFill>
                <a:latin typeface="Space Grotesk"/>
              </a:defRPr>
            </a:pPr>
            <a:r>
              <a:t>2</a:t>
            </a:r>
          </a:p>
        </p:txBody>
      </p:sp>
      <p:sp>
        <p:nvSpPr>
          <p:cNvPr id="13" name="TextBox 12"/>
          <p:cNvSpPr txBox="1"/>
          <p:nvPr/>
        </p:nvSpPr>
        <p:spPr>
          <a:xfrm>
            <a:off x="4507992" y="2368296"/>
            <a:ext cx="3182112" cy="429768"/>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Wallet and network</a:t>
            </a:r>
          </a:p>
        </p:txBody>
      </p:sp>
      <p:sp>
        <p:nvSpPr>
          <p:cNvPr id="14" name="TextBox 13"/>
          <p:cNvSpPr txBox="1"/>
          <p:nvPr/>
        </p:nvSpPr>
        <p:spPr>
          <a:xfrm>
            <a:off x="4507992" y="2916936"/>
            <a:ext cx="3182112" cy="41148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Connect, detect and switch</a:t>
            </a:r>
          </a:p>
        </p:txBody>
      </p:sp>
      <p:sp>
        <p:nvSpPr>
          <p:cNvPr id="15" name="Rounded Rectangle 14"/>
          <p:cNvSpPr/>
          <p:nvPr/>
        </p:nvSpPr>
        <p:spPr>
          <a:xfrm>
            <a:off x="8101583" y="1609344"/>
            <a:ext cx="3547872" cy="192024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84463" y="1783080"/>
            <a:ext cx="457200" cy="457200"/>
          </a:xfrm>
          <a:prstGeom prst="rect">
            <a:avLst/>
          </a:prstGeom>
          <a:noFill/>
        </p:spPr>
        <p:txBody>
          <a:bodyPr wrap="square" lIns="13716" tIns="0" rIns="13716" bIns="0">
            <a:spAutoFit/>
          </a:bodyPr>
          <a:lstStyle/>
          <a:p>
            <a:pPr>
              <a:spcAft>
                <a:spcPts val="300"/>
              </a:spcAft>
              <a:defRPr sz="2800" b="1">
                <a:solidFill>
                  <a:srgbClr val="39FF88"/>
                </a:solidFill>
                <a:latin typeface="Space Grotesk"/>
              </a:defRPr>
            </a:pPr>
            <a:r>
              <a:t>3</a:t>
            </a:r>
          </a:p>
        </p:txBody>
      </p:sp>
      <p:sp>
        <p:nvSpPr>
          <p:cNvPr id="17" name="TextBox 16"/>
          <p:cNvSpPr txBox="1"/>
          <p:nvPr/>
        </p:nvSpPr>
        <p:spPr>
          <a:xfrm>
            <a:off x="8284463" y="2368296"/>
            <a:ext cx="3182112" cy="429768"/>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Factory and Army</a:t>
            </a:r>
          </a:p>
        </p:txBody>
      </p:sp>
      <p:sp>
        <p:nvSpPr>
          <p:cNvPr id="18" name="TextBox 17"/>
          <p:cNvSpPr txBox="1"/>
          <p:nvPr/>
        </p:nvSpPr>
        <p:spPr>
          <a:xfrm>
            <a:off x="8284463" y="2916936"/>
            <a:ext cx="3182112" cy="41148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Preview DNA, sort and filter</a:t>
            </a:r>
          </a:p>
        </p:txBody>
      </p:sp>
      <p:sp>
        <p:nvSpPr>
          <p:cNvPr id="19" name="Rounded Rectangle 18"/>
          <p:cNvSpPr/>
          <p:nvPr/>
        </p:nvSpPr>
        <p:spPr>
          <a:xfrm>
            <a:off x="548640" y="3785615"/>
            <a:ext cx="3547872" cy="192024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3959352"/>
            <a:ext cx="457200" cy="457200"/>
          </a:xfrm>
          <a:prstGeom prst="rect">
            <a:avLst/>
          </a:prstGeom>
          <a:noFill/>
        </p:spPr>
        <p:txBody>
          <a:bodyPr wrap="square" lIns="13716" tIns="0" rIns="13716" bIns="0">
            <a:spAutoFit/>
          </a:bodyPr>
          <a:lstStyle/>
          <a:p>
            <a:pPr>
              <a:spcAft>
                <a:spcPts val="300"/>
              </a:spcAft>
              <a:defRPr sz="2800" b="1">
                <a:solidFill>
                  <a:srgbClr val="39FF88"/>
                </a:solidFill>
                <a:latin typeface="Space Grotesk"/>
              </a:defRPr>
            </a:pPr>
            <a:r>
              <a:t>4</a:t>
            </a:r>
          </a:p>
        </p:txBody>
      </p:sp>
      <p:sp>
        <p:nvSpPr>
          <p:cNvPr id="21" name="TextBox 20"/>
          <p:cNvSpPr txBox="1"/>
          <p:nvPr/>
        </p:nvSpPr>
        <p:spPr>
          <a:xfrm>
            <a:off x="731520" y="4544568"/>
            <a:ext cx="3182112" cy="429768"/>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Ownership transfer</a:t>
            </a:r>
          </a:p>
        </p:txBody>
      </p:sp>
      <p:sp>
        <p:nvSpPr>
          <p:cNvPr id="22" name="TextBox 21"/>
          <p:cNvSpPr txBox="1"/>
          <p:nvPr/>
        </p:nvSpPr>
        <p:spPr>
          <a:xfrm>
            <a:off x="731520" y="5093207"/>
            <a:ext cx="3182112" cy="41148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Transfer and verify the recipient</a:t>
            </a:r>
          </a:p>
        </p:txBody>
      </p:sp>
      <p:sp>
        <p:nvSpPr>
          <p:cNvPr id="23" name="Rounded Rectangle 22"/>
          <p:cNvSpPr/>
          <p:nvPr/>
        </p:nvSpPr>
        <p:spPr>
          <a:xfrm>
            <a:off x="4325112" y="3785615"/>
            <a:ext cx="3547872" cy="1920240"/>
          </a:xfrm>
          <a:prstGeom prst="roundRect">
            <a:avLst>
              <a:gd name="adj" fmla="val 8000"/>
            </a:avLst>
          </a:prstGeom>
          <a:solidFill>
            <a:srgbClr val="12151A">
              <a:alpha val="77000"/>
            </a:srgbClr>
          </a:solidFill>
          <a:ln w="9525">
            <a:solidFill>
              <a:srgbClr val="8E7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07992" y="3959352"/>
            <a:ext cx="457200" cy="457200"/>
          </a:xfrm>
          <a:prstGeom prst="rect">
            <a:avLst/>
          </a:prstGeom>
          <a:noFill/>
        </p:spPr>
        <p:txBody>
          <a:bodyPr wrap="square" lIns="13716" tIns="0" rIns="13716" bIns="0">
            <a:spAutoFit/>
          </a:bodyPr>
          <a:lstStyle/>
          <a:p>
            <a:pPr>
              <a:spcAft>
                <a:spcPts val="300"/>
              </a:spcAft>
              <a:defRPr sz="2800" b="1">
                <a:solidFill>
                  <a:srgbClr val="39FF88"/>
                </a:solidFill>
                <a:latin typeface="Space Grotesk"/>
              </a:defRPr>
            </a:pPr>
            <a:r>
              <a:t>5</a:t>
            </a:r>
          </a:p>
        </p:txBody>
      </p:sp>
      <p:sp>
        <p:nvSpPr>
          <p:cNvPr id="25" name="TextBox 24"/>
          <p:cNvSpPr txBox="1"/>
          <p:nvPr/>
        </p:nvSpPr>
        <p:spPr>
          <a:xfrm>
            <a:off x="4507992" y="4544568"/>
            <a:ext cx="3182112" cy="429768"/>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Avenger feeding</a:t>
            </a:r>
          </a:p>
        </p:txBody>
      </p:sp>
      <p:sp>
        <p:nvSpPr>
          <p:cNvPr id="26" name="TextBox 25"/>
          <p:cNvSpPr txBox="1"/>
          <p:nvPr/>
        </p:nvSpPr>
        <p:spPr>
          <a:xfrm>
            <a:off x="4507992" y="5093207"/>
            <a:ext cx="3182112" cy="41148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Create a hero with ...99 DNA</a:t>
            </a:r>
          </a:p>
        </p:txBody>
      </p:sp>
      <p:sp>
        <p:nvSpPr>
          <p:cNvPr id="27" name="Rounded Rectangle 26"/>
          <p:cNvSpPr/>
          <p:nvPr/>
        </p:nvSpPr>
        <p:spPr>
          <a:xfrm>
            <a:off x="8101583" y="3785615"/>
            <a:ext cx="3547872" cy="1920240"/>
          </a:xfrm>
          <a:prstGeom prst="roundRect">
            <a:avLst>
              <a:gd name="adj" fmla="val 8000"/>
            </a:avLst>
          </a:prstGeom>
          <a:solidFill>
            <a:srgbClr val="12151A">
              <a:alpha val="77000"/>
            </a:srgbClr>
          </a:solidFill>
          <a:ln w="9525">
            <a:solidFill>
              <a:srgbClr val="8E7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84463" y="3959352"/>
            <a:ext cx="457200" cy="457200"/>
          </a:xfrm>
          <a:prstGeom prst="rect">
            <a:avLst/>
          </a:prstGeom>
          <a:noFill/>
        </p:spPr>
        <p:txBody>
          <a:bodyPr wrap="square" lIns="13716" tIns="0" rIns="13716" bIns="0">
            <a:spAutoFit/>
          </a:bodyPr>
          <a:lstStyle/>
          <a:p>
            <a:pPr>
              <a:spcAft>
                <a:spcPts val="300"/>
              </a:spcAft>
              <a:defRPr sz="2800" b="1">
                <a:solidFill>
                  <a:srgbClr val="39FF88"/>
                </a:solidFill>
                <a:latin typeface="Space Grotesk"/>
              </a:defRPr>
            </a:pPr>
            <a:r>
              <a:t>6</a:t>
            </a:r>
          </a:p>
        </p:txBody>
      </p:sp>
      <p:sp>
        <p:nvSpPr>
          <p:cNvPr id="29" name="TextBox 28"/>
          <p:cNvSpPr txBox="1"/>
          <p:nvPr/>
        </p:nvSpPr>
        <p:spPr>
          <a:xfrm>
            <a:off x="8284463" y="4544568"/>
            <a:ext cx="3182112" cy="429768"/>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Battle arena</a:t>
            </a:r>
          </a:p>
        </p:txBody>
      </p:sp>
      <p:sp>
        <p:nvSpPr>
          <p:cNvPr id="30" name="TextBox 29"/>
          <p:cNvSpPr txBox="1"/>
          <p:nvPr/>
        </p:nvSpPr>
        <p:spPr>
          <a:xfrm>
            <a:off x="8284463" y="5093207"/>
            <a:ext cx="3182112" cy="41148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Avenger odds and zombie PvP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Architecture</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04</a:t>
            </a:r>
          </a:p>
        </p:txBody>
      </p:sp>
      <p:sp>
        <p:nvSpPr>
          <p:cNvPr id="7" name="Rounded Rectangle 6"/>
          <p:cNvSpPr/>
          <p:nvPr/>
        </p:nvSpPr>
        <p:spPr>
          <a:xfrm>
            <a:off x="548640" y="1965960"/>
            <a:ext cx="2743200" cy="1371600"/>
          </a:xfrm>
          <a:prstGeom prst="roundRect">
            <a:avLst>
              <a:gd name="adj" fmla="val 8000"/>
            </a:avLst>
          </a:prstGeom>
          <a:solidFill>
            <a:srgbClr val="12151A">
              <a:alpha val="77000"/>
            </a:srgbClr>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084831"/>
            <a:ext cx="2523744" cy="1188720"/>
          </a:xfrm>
          <a:prstGeom prst="rect">
            <a:avLst/>
          </a:prstGeom>
          <a:noFill/>
        </p:spPr>
        <p:txBody>
          <a:bodyPr wrap="square" lIns="13716" tIns="0" rIns="13716" bIns="0">
            <a:spAutoFit/>
          </a:bodyPr>
          <a:lstStyle/>
          <a:p>
            <a:pPr algn="ctr">
              <a:spcAft>
                <a:spcPts val="300"/>
              </a:spcAft>
              <a:defRPr sz="1800" b="0">
                <a:solidFill>
                  <a:srgbClr val="E8ECF1"/>
                </a:solidFill>
                <a:latin typeface="Inter"/>
              </a:defRPr>
            </a:pPr>
            <a:r>
              <a:t>Browser</a:t>
            </a:r>
          </a:p>
          <a:p>
            <a:pPr algn="ctr">
              <a:spcAft>
                <a:spcPts val="300"/>
              </a:spcAft>
              <a:defRPr sz="1800" b="0">
                <a:solidFill>
                  <a:srgbClr val="E8ECF1"/>
                </a:solidFill>
                <a:latin typeface="Inter"/>
              </a:defRPr>
            </a:pPr>
            <a:r>
              <a:t>React + ethers v6</a:t>
            </a:r>
          </a:p>
          <a:p>
            <a:pPr algn="ctr">
              <a:spcAft>
                <a:spcPts val="300"/>
              </a:spcAft>
              <a:defRPr sz="1800" b="0">
                <a:solidFill>
                  <a:srgbClr val="E8ECF1"/>
                </a:solidFill>
                <a:latin typeface="Inter"/>
              </a:defRPr>
            </a:pPr>
            <a:r>
              <a:t>Vite</a:t>
            </a:r>
          </a:p>
        </p:txBody>
      </p:sp>
      <p:sp>
        <p:nvSpPr>
          <p:cNvPr id="9" name="Rounded Rectangle 8"/>
          <p:cNvSpPr/>
          <p:nvPr/>
        </p:nvSpPr>
        <p:spPr>
          <a:xfrm>
            <a:off x="3767328" y="1965960"/>
            <a:ext cx="2286000" cy="137160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77056" y="2084831"/>
            <a:ext cx="2066543" cy="1188720"/>
          </a:xfrm>
          <a:prstGeom prst="rect">
            <a:avLst/>
          </a:prstGeom>
          <a:noFill/>
        </p:spPr>
        <p:txBody>
          <a:bodyPr wrap="square" lIns="13716" tIns="0" rIns="13716" bIns="0">
            <a:spAutoFit/>
          </a:bodyPr>
          <a:lstStyle/>
          <a:p>
            <a:pPr algn="ctr">
              <a:spcAft>
                <a:spcPts val="300"/>
              </a:spcAft>
              <a:defRPr sz="1800" b="0">
                <a:solidFill>
                  <a:srgbClr val="E8ECF1"/>
                </a:solidFill>
                <a:latin typeface="Inter"/>
              </a:defRPr>
            </a:pPr>
            <a:r>
              <a:t>MetaMask</a:t>
            </a:r>
          </a:p>
          <a:p>
            <a:pPr algn="ctr">
              <a:spcAft>
                <a:spcPts val="300"/>
              </a:spcAft>
              <a:defRPr sz="1800" b="0">
                <a:solidFill>
                  <a:srgbClr val="E8ECF1"/>
                </a:solidFill>
                <a:latin typeface="Inter"/>
              </a:defRPr>
            </a:pPr>
            <a:r>
              <a:t>Signs writes</a:t>
            </a:r>
          </a:p>
        </p:txBody>
      </p:sp>
      <p:sp>
        <p:nvSpPr>
          <p:cNvPr id="11" name="Rounded Rectangle 10"/>
          <p:cNvSpPr/>
          <p:nvPr/>
        </p:nvSpPr>
        <p:spPr>
          <a:xfrm>
            <a:off x="6629400" y="1591056"/>
            <a:ext cx="5010912" cy="3291840"/>
          </a:xfrm>
          <a:prstGeom prst="roundRect">
            <a:avLst>
              <a:gd name="adj" fmla="val 8000"/>
            </a:avLst>
          </a:prstGeom>
          <a:solidFill>
            <a:srgbClr val="12151A">
              <a:alpha val="77000"/>
            </a:srgbClr>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0" y="1810512"/>
            <a:ext cx="4480560" cy="411480"/>
          </a:xfrm>
          <a:prstGeom prst="rect">
            <a:avLst/>
          </a:prstGeom>
          <a:noFill/>
        </p:spPr>
        <p:txBody>
          <a:bodyPr wrap="square" lIns="13716" tIns="0" rIns="13716" bIns="0">
            <a:spAutoFit/>
          </a:bodyPr>
          <a:lstStyle/>
          <a:p>
            <a:pPr>
              <a:spcAft>
                <a:spcPts val="300"/>
              </a:spcAft>
              <a:defRPr sz="2200" b="1">
                <a:solidFill>
                  <a:srgbClr val="E8ECF1"/>
                </a:solidFill>
                <a:latin typeface="Space Grotesk"/>
              </a:defRPr>
            </a:pPr>
            <a:r>
              <a:t>Ganache  /  chain 1337</a:t>
            </a:r>
          </a:p>
        </p:txBody>
      </p:sp>
      <p:sp>
        <p:nvSpPr>
          <p:cNvPr id="13" name="TextBox 12"/>
          <p:cNvSpPr txBox="1"/>
          <p:nvPr/>
        </p:nvSpPr>
        <p:spPr>
          <a:xfrm>
            <a:off x="6858000" y="2313432"/>
            <a:ext cx="4480560" cy="320040"/>
          </a:xfrm>
          <a:prstGeom prst="rect">
            <a:avLst/>
          </a:prstGeom>
          <a:noFill/>
        </p:spPr>
        <p:txBody>
          <a:bodyPr wrap="square" lIns="13716" tIns="0" rIns="13716" bIns="0">
            <a:spAutoFit/>
          </a:bodyPr>
          <a:lstStyle/>
          <a:p>
            <a:pPr>
              <a:spcAft>
                <a:spcPts val="300"/>
              </a:spcAft>
              <a:defRPr sz="1600" b="0">
                <a:solidFill>
                  <a:srgbClr val="9AA4B2"/>
                </a:solidFill>
                <a:latin typeface="Menlo"/>
              </a:defRPr>
            </a:pPr>
            <a:r>
              <a:t>127.0.0.1:7545</a:t>
            </a:r>
          </a:p>
        </p:txBody>
      </p:sp>
      <p:sp>
        <p:nvSpPr>
          <p:cNvPr id="14" name="Rounded Rectangle 13"/>
          <p:cNvSpPr/>
          <p:nvPr/>
        </p:nvSpPr>
        <p:spPr>
          <a:xfrm>
            <a:off x="6858000" y="2880360"/>
            <a:ext cx="4526280" cy="658368"/>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67728" y="2999232"/>
            <a:ext cx="4306824" cy="475488"/>
          </a:xfrm>
          <a:prstGeom prst="rect">
            <a:avLst/>
          </a:prstGeom>
          <a:noFill/>
        </p:spPr>
        <p:txBody>
          <a:bodyPr wrap="square" lIns="13716" tIns="0" rIns="13716" bIns="0">
            <a:spAutoFit/>
          </a:bodyPr>
          <a:lstStyle/>
          <a:p>
            <a:pPr algn="ctr">
              <a:spcAft>
                <a:spcPts val="300"/>
              </a:spcAft>
              <a:defRPr sz="1800" b="0">
                <a:solidFill>
                  <a:srgbClr val="E8ECF1"/>
                </a:solidFill>
                <a:latin typeface="Inter"/>
              </a:defRPr>
            </a:pPr>
            <a:r>
              <a:t>ZombieOwnership</a:t>
            </a:r>
          </a:p>
        </p:txBody>
      </p:sp>
      <p:sp>
        <p:nvSpPr>
          <p:cNvPr id="16" name="Rounded Rectangle 15"/>
          <p:cNvSpPr/>
          <p:nvPr/>
        </p:nvSpPr>
        <p:spPr>
          <a:xfrm>
            <a:off x="6858000" y="3867912"/>
            <a:ext cx="4526280" cy="658368"/>
          </a:xfrm>
          <a:prstGeom prst="roundRect">
            <a:avLst>
              <a:gd name="adj" fmla="val 8000"/>
            </a:avLst>
          </a:prstGeom>
          <a:solidFill>
            <a:srgbClr val="12151A">
              <a:alpha val="77000"/>
            </a:srgbClr>
          </a:solidFill>
          <a:ln w="9525">
            <a:solidFill>
              <a:srgbClr val="8E7CC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67728" y="3986784"/>
            <a:ext cx="4306824" cy="475488"/>
          </a:xfrm>
          <a:prstGeom prst="rect">
            <a:avLst/>
          </a:prstGeom>
          <a:noFill/>
        </p:spPr>
        <p:txBody>
          <a:bodyPr wrap="square" lIns="13716" tIns="0" rIns="13716" bIns="0">
            <a:spAutoFit/>
          </a:bodyPr>
          <a:lstStyle/>
          <a:p>
            <a:pPr algn="ctr">
              <a:spcAft>
                <a:spcPts val="300"/>
              </a:spcAft>
              <a:defRPr sz="1800" b="0">
                <a:solidFill>
                  <a:srgbClr val="E8ECF1"/>
                </a:solidFill>
                <a:latin typeface="Inter"/>
              </a:defRPr>
            </a:pPr>
            <a:r>
              <a:t>AvengerContract</a:t>
            </a:r>
          </a:p>
        </p:txBody>
      </p:sp>
      <p:cxnSp>
        <p:nvCxnSpPr>
          <p:cNvPr id="18" name="Connector 17"/>
          <p:cNvCxnSpPr/>
          <p:nvPr/>
        </p:nvCxnSpPr>
        <p:spPr>
          <a:xfrm>
            <a:off x="3291840" y="2651760"/>
            <a:ext cx="475488" cy="0"/>
          </a:xfrm>
          <a:prstGeom prst="line">
            <a:avLst/>
          </a:prstGeom>
          <a:ln w="19050">
            <a:solidFill>
              <a:srgbClr val="9AA4B2"/>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53328" y="2651760"/>
            <a:ext cx="576072" cy="0"/>
          </a:xfrm>
          <a:prstGeom prst="line">
            <a:avLst/>
          </a:prstGeom>
          <a:ln w="19050">
            <a:solidFill>
              <a:srgbClr val="39FF88"/>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098280" y="3538728"/>
            <a:ext cx="0" cy="329184"/>
          </a:xfrm>
          <a:prstGeom prst="line">
            <a:avLst/>
          </a:prstGeom>
          <a:ln w="19050">
            <a:solidFill>
              <a:srgbClr val="9AA4B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920240" y="1600200"/>
            <a:ext cx="0" cy="365760"/>
          </a:xfrm>
          <a:prstGeom prst="line">
            <a:avLst/>
          </a:prstGeom>
          <a:ln w="19050">
            <a:solidFill>
              <a:srgbClr val="39FF8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920240" y="1600200"/>
            <a:ext cx="4709160" cy="0"/>
          </a:xfrm>
          <a:prstGeom prst="line">
            <a:avLst/>
          </a:prstGeom>
          <a:ln w="19050">
            <a:solidFill>
              <a:srgbClr val="39FF88"/>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148840" y="1243584"/>
            <a:ext cx="5486400" cy="274320"/>
          </a:xfrm>
          <a:prstGeom prst="rect">
            <a:avLst/>
          </a:prstGeom>
          <a:noFill/>
        </p:spPr>
        <p:txBody>
          <a:bodyPr wrap="square" lIns="13716" tIns="0" rIns="13716" bIns="0">
            <a:spAutoFit/>
          </a:bodyPr>
          <a:lstStyle/>
          <a:p>
            <a:pPr>
              <a:spcAft>
                <a:spcPts val="300"/>
              </a:spcAft>
              <a:defRPr sz="1400" b="0">
                <a:solidFill>
                  <a:srgbClr val="39FF88"/>
                </a:solidFill>
                <a:latin typeface="Inter"/>
              </a:defRPr>
            </a:pPr>
            <a:r>
              <a:t>Reads via RPC, no wallet needed</a:t>
            </a:r>
          </a:p>
        </p:txBody>
      </p:sp>
      <p:sp>
        <p:nvSpPr>
          <p:cNvPr id="24" name="Rounded Rectangle 23"/>
          <p:cNvSpPr/>
          <p:nvPr/>
        </p:nvSpPr>
        <p:spPr>
          <a:xfrm>
            <a:off x="548640" y="3867912"/>
            <a:ext cx="2743200" cy="1024128"/>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 y="3986784"/>
            <a:ext cx="2523744" cy="841248"/>
          </a:xfrm>
          <a:prstGeom prst="rect">
            <a:avLst/>
          </a:prstGeom>
          <a:noFill/>
        </p:spPr>
        <p:txBody>
          <a:bodyPr wrap="square" lIns="13716" tIns="0" rIns="13716" bIns="0">
            <a:spAutoFit/>
          </a:bodyPr>
          <a:lstStyle/>
          <a:p>
            <a:pPr algn="ctr">
              <a:spcAft>
                <a:spcPts val="300"/>
              </a:spcAft>
              <a:defRPr sz="1600" b="0">
                <a:solidFill>
                  <a:srgbClr val="E8ECF1"/>
                </a:solidFill>
                <a:latin typeface="Inter"/>
              </a:defRPr>
            </a:pPr>
            <a:r>
              <a:t>scripts/</a:t>
            </a:r>
          </a:p>
          <a:p>
            <a:pPr algn="ctr">
              <a:spcAft>
                <a:spcPts val="300"/>
              </a:spcAft>
              <a:defRPr sz="1600" b="0">
                <a:solidFill>
                  <a:srgbClr val="E8ECF1"/>
                </a:solidFill>
                <a:latin typeface="Inter"/>
              </a:defRPr>
            </a:pPr>
            <a:r>
              <a:t>demo, seed, check, serve</a:t>
            </a:r>
          </a:p>
        </p:txBody>
      </p:sp>
      <p:sp>
        <p:nvSpPr>
          <p:cNvPr id="26" name="Rounded Rectangle 25"/>
          <p:cNvSpPr/>
          <p:nvPr/>
        </p:nvSpPr>
        <p:spPr>
          <a:xfrm>
            <a:off x="3749039" y="3867912"/>
            <a:ext cx="2560320" cy="1024128"/>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58768" y="3986784"/>
            <a:ext cx="2340863" cy="841248"/>
          </a:xfrm>
          <a:prstGeom prst="rect">
            <a:avLst/>
          </a:prstGeom>
          <a:noFill/>
        </p:spPr>
        <p:txBody>
          <a:bodyPr wrap="square" lIns="13716" tIns="0" rIns="13716" bIns="0">
            <a:spAutoFit/>
          </a:bodyPr>
          <a:lstStyle/>
          <a:p>
            <a:pPr algn="ctr">
              <a:spcAft>
                <a:spcPts val="300"/>
              </a:spcAft>
              <a:defRPr sz="1400" b="0">
                <a:solidFill>
                  <a:srgbClr val="E8ECF1"/>
                </a:solidFill>
                <a:latin typeface="Inter"/>
              </a:defRPr>
            </a:pPr>
            <a:r>
              <a:t>deployment.json</a:t>
            </a:r>
          </a:p>
          <a:p>
            <a:pPr algn="ctr">
              <a:spcAft>
                <a:spcPts val="300"/>
              </a:spcAft>
              <a:defRPr sz="1400" b="0">
                <a:solidFill>
                  <a:srgbClr val="E8ECF1"/>
                </a:solidFill>
                <a:latin typeface="Inter"/>
              </a:defRPr>
            </a:pPr>
            <a:r>
              <a:t>No hard-coded app addresses</a:t>
            </a:r>
          </a:p>
        </p:txBody>
      </p:sp>
      <p:cxnSp>
        <p:nvCxnSpPr>
          <p:cNvPr id="28" name="Connector 27"/>
          <p:cNvCxnSpPr/>
          <p:nvPr/>
        </p:nvCxnSpPr>
        <p:spPr>
          <a:xfrm>
            <a:off x="3291840" y="4379976"/>
            <a:ext cx="457199" cy="0"/>
          </a:xfrm>
          <a:prstGeom prst="line">
            <a:avLst/>
          </a:prstGeom>
          <a:ln w="19050">
            <a:solidFill>
              <a:srgbClr val="9AA4B2"/>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029200" y="3611880"/>
            <a:ext cx="0" cy="256032"/>
          </a:xfrm>
          <a:prstGeom prst="line">
            <a:avLst/>
          </a:prstGeom>
          <a:ln w="19050">
            <a:solidFill>
              <a:srgbClr val="9AA4B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920240" y="3611880"/>
            <a:ext cx="3108960" cy="0"/>
          </a:xfrm>
          <a:prstGeom prst="line">
            <a:avLst/>
          </a:prstGeom>
          <a:ln w="19050">
            <a:solidFill>
              <a:srgbClr val="9AA4B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920240" y="3337560"/>
            <a:ext cx="0" cy="274320"/>
          </a:xfrm>
          <a:prstGeom prst="line">
            <a:avLst/>
          </a:prstGeom>
          <a:ln w="19050">
            <a:solidFill>
              <a:srgbClr val="9AA4B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31520" y="5413248"/>
            <a:ext cx="10607040" cy="50292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App on :8080     /legacy/ serves the original trio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Contract fixes: before and after</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05</a:t>
            </a:r>
          </a:p>
        </p:txBody>
      </p:sp>
      <p:sp>
        <p:nvSpPr>
          <p:cNvPr id="7" name="Rounded Rectangle 6"/>
          <p:cNvSpPr/>
          <p:nvPr/>
        </p:nvSpPr>
        <p:spPr>
          <a:xfrm>
            <a:off x="548640" y="1609344"/>
            <a:ext cx="3383280" cy="434340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931920" y="1609344"/>
            <a:ext cx="3749039" cy="4343400"/>
          </a:xfrm>
          <a:prstGeom prst="roundRect">
            <a:avLst>
              <a:gd name="adj" fmla="val 8000"/>
            </a:avLst>
          </a:prstGeom>
          <a:solidFill>
            <a:srgbClr val="211219">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680960" y="1609344"/>
            <a:ext cx="3959352" cy="4343400"/>
          </a:xfrm>
          <a:prstGeom prst="roundRect">
            <a:avLst>
              <a:gd name="adj" fmla="val 8000"/>
            </a:avLst>
          </a:prstGeom>
          <a:solidFill>
            <a:srgbClr val="10231B">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783080"/>
            <a:ext cx="3291840" cy="274320"/>
          </a:xfrm>
          <a:prstGeom prst="rect">
            <a:avLst/>
          </a:prstGeom>
          <a:noFill/>
        </p:spPr>
        <p:txBody>
          <a:bodyPr wrap="square" lIns="13716" tIns="0" rIns="13716" bIns="0">
            <a:spAutoFit/>
          </a:bodyPr>
          <a:lstStyle/>
          <a:p>
            <a:pPr>
              <a:spcAft>
                <a:spcPts val="300"/>
              </a:spcAft>
              <a:defRPr sz="1200" b="1">
                <a:solidFill>
                  <a:srgbClr val="9AA4B2"/>
                </a:solidFill>
                <a:latin typeface="Inter"/>
              </a:defRPr>
            </a:pPr>
            <a:r>
              <a:t>AREA</a:t>
            </a:r>
          </a:p>
        </p:txBody>
      </p:sp>
      <p:sp>
        <p:nvSpPr>
          <p:cNvPr id="11" name="TextBox 10"/>
          <p:cNvSpPr txBox="1"/>
          <p:nvPr/>
        </p:nvSpPr>
        <p:spPr>
          <a:xfrm>
            <a:off x="4114800" y="1783080"/>
            <a:ext cx="3291840" cy="274320"/>
          </a:xfrm>
          <a:prstGeom prst="rect">
            <a:avLst/>
          </a:prstGeom>
          <a:noFill/>
        </p:spPr>
        <p:txBody>
          <a:bodyPr wrap="square" lIns="13716" tIns="0" rIns="13716" bIns="0">
            <a:spAutoFit/>
          </a:bodyPr>
          <a:lstStyle/>
          <a:p>
            <a:pPr>
              <a:spcAft>
                <a:spcPts val="300"/>
              </a:spcAft>
              <a:defRPr sz="1200" b="1">
                <a:solidFill>
                  <a:srgbClr val="9AA4B2"/>
                </a:solidFill>
                <a:latin typeface="Inter"/>
              </a:defRPr>
            </a:pPr>
            <a:r>
              <a:t>BEFORE</a:t>
            </a:r>
          </a:p>
        </p:txBody>
      </p:sp>
      <p:sp>
        <p:nvSpPr>
          <p:cNvPr id="12" name="TextBox 11"/>
          <p:cNvSpPr txBox="1"/>
          <p:nvPr/>
        </p:nvSpPr>
        <p:spPr>
          <a:xfrm>
            <a:off x="7863840" y="1783080"/>
            <a:ext cx="3291840" cy="274320"/>
          </a:xfrm>
          <a:prstGeom prst="rect">
            <a:avLst/>
          </a:prstGeom>
          <a:noFill/>
        </p:spPr>
        <p:txBody>
          <a:bodyPr wrap="square" lIns="13716" tIns="0" rIns="13716" bIns="0">
            <a:spAutoFit/>
          </a:bodyPr>
          <a:lstStyle/>
          <a:p>
            <a:pPr>
              <a:spcAft>
                <a:spcPts val="300"/>
              </a:spcAft>
              <a:defRPr sz="1200" b="1">
                <a:solidFill>
                  <a:srgbClr val="9AA4B2"/>
                </a:solidFill>
                <a:latin typeface="Inter"/>
              </a:defRPr>
            </a:pPr>
            <a:r>
              <a:t>AFTER</a:t>
            </a:r>
          </a:p>
        </p:txBody>
      </p:sp>
      <p:sp>
        <p:nvSpPr>
          <p:cNvPr id="13" name="TextBox 12"/>
          <p:cNvSpPr txBox="1"/>
          <p:nvPr/>
        </p:nvSpPr>
        <p:spPr>
          <a:xfrm>
            <a:off x="731520" y="2267712"/>
            <a:ext cx="2926080" cy="45720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Transfer count</a:t>
            </a:r>
          </a:p>
        </p:txBody>
      </p:sp>
      <p:sp>
        <p:nvSpPr>
          <p:cNvPr id="14" name="TextBox 13"/>
          <p:cNvSpPr txBox="1"/>
          <p:nvPr/>
        </p:nvSpPr>
        <p:spPr>
          <a:xfrm>
            <a:off x="4114800" y="2267712"/>
            <a:ext cx="333756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ownerZombieCount[msg.sender]</a:t>
            </a:r>
          </a:p>
        </p:txBody>
      </p:sp>
      <p:sp>
        <p:nvSpPr>
          <p:cNvPr id="15" name="TextBox 14"/>
          <p:cNvSpPr txBox="1"/>
          <p:nvPr/>
        </p:nvSpPr>
        <p:spPr>
          <a:xfrm>
            <a:off x="7863840" y="2267712"/>
            <a:ext cx="352044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ownerZombieCount[_from]</a:t>
            </a:r>
          </a:p>
        </p:txBody>
      </p:sp>
      <p:cxnSp>
        <p:nvCxnSpPr>
          <p:cNvPr id="16" name="Connector 15"/>
          <p:cNvCxnSpPr/>
          <p:nvPr/>
        </p:nvCxnSpPr>
        <p:spPr>
          <a:xfrm>
            <a:off x="731520" y="2862072"/>
            <a:ext cx="10698480"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2971800"/>
            <a:ext cx="2926080" cy="45720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Approval</a:t>
            </a:r>
          </a:p>
        </p:txBody>
      </p:sp>
      <p:sp>
        <p:nvSpPr>
          <p:cNvPr id="18" name="TextBox 17"/>
          <p:cNvSpPr txBox="1"/>
          <p:nvPr/>
        </p:nvSpPr>
        <p:spPr>
          <a:xfrm>
            <a:off x="4114800" y="2971800"/>
            <a:ext cx="333756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Approval remains after transfer</a:t>
            </a:r>
          </a:p>
        </p:txBody>
      </p:sp>
      <p:sp>
        <p:nvSpPr>
          <p:cNvPr id="19" name="TextBox 18"/>
          <p:cNvSpPr txBox="1"/>
          <p:nvPr/>
        </p:nvSpPr>
        <p:spPr>
          <a:xfrm>
            <a:off x="7863840" y="2971800"/>
            <a:ext cx="352044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delete zombieApprovals[_tokenId]</a:t>
            </a:r>
          </a:p>
        </p:txBody>
      </p:sp>
      <p:cxnSp>
        <p:nvCxnSpPr>
          <p:cNvPr id="20" name="Connector 19"/>
          <p:cNvCxnSpPr/>
          <p:nvPr/>
        </p:nvCxnSpPr>
        <p:spPr>
          <a:xfrm>
            <a:off x="731520" y="3566160"/>
            <a:ext cx="10698480"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3675887"/>
            <a:ext cx="2926080" cy="45720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Transfer sender</a:t>
            </a:r>
          </a:p>
        </p:txBody>
      </p:sp>
      <p:sp>
        <p:nvSpPr>
          <p:cNvPr id="22" name="TextBox 21"/>
          <p:cNvSpPr txBox="1"/>
          <p:nvPr/>
        </p:nvSpPr>
        <p:spPr>
          <a:xfrm>
            <a:off x="4114800" y="3675887"/>
            <a:ext cx="333756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No ownership check on _from</a:t>
            </a:r>
          </a:p>
        </p:txBody>
      </p:sp>
      <p:sp>
        <p:nvSpPr>
          <p:cNvPr id="23" name="TextBox 22"/>
          <p:cNvSpPr txBox="1"/>
          <p:nvPr/>
        </p:nvSpPr>
        <p:spPr>
          <a:xfrm>
            <a:off x="7863840" y="3675887"/>
            <a:ext cx="352044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zombieToOwner[_tokenId] == _from</a:t>
            </a:r>
          </a:p>
        </p:txBody>
      </p:sp>
      <p:cxnSp>
        <p:nvCxnSpPr>
          <p:cNvPr id="24" name="Connector 23"/>
          <p:cNvCxnSpPr/>
          <p:nvPr/>
        </p:nvCxnSpPr>
        <p:spPr>
          <a:xfrm>
            <a:off x="731520" y="4270248"/>
            <a:ext cx="10698480"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4379976"/>
            <a:ext cx="2926080" cy="45720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Battle cooldown</a:t>
            </a:r>
          </a:p>
        </p:txBody>
      </p:sp>
      <p:sp>
        <p:nvSpPr>
          <p:cNvPr id="26" name="TextBox 25"/>
          <p:cNvSpPr txBox="1"/>
          <p:nvPr/>
        </p:nvSpPr>
        <p:spPr>
          <a:xfrm>
            <a:off x="4114800" y="4379976"/>
            <a:ext cx="333756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No readiness guard</a:t>
            </a:r>
          </a:p>
        </p:txBody>
      </p:sp>
      <p:sp>
        <p:nvSpPr>
          <p:cNvPr id="27" name="TextBox 26"/>
          <p:cNvSpPr txBox="1"/>
          <p:nvPr/>
        </p:nvSpPr>
        <p:spPr>
          <a:xfrm>
            <a:off x="7863840" y="4379976"/>
            <a:ext cx="352044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require(_isReady(myZombie), ...)</a:t>
            </a:r>
          </a:p>
        </p:txBody>
      </p:sp>
      <p:cxnSp>
        <p:nvCxnSpPr>
          <p:cNvPr id="28" name="Connector 27"/>
          <p:cNvCxnSpPr/>
          <p:nvPr/>
        </p:nvCxnSpPr>
        <p:spPr>
          <a:xfrm>
            <a:off x="731520" y="4974336"/>
            <a:ext cx="10698480"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31520" y="5084064"/>
            <a:ext cx="2926080" cy="45720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Level up</a:t>
            </a:r>
          </a:p>
        </p:txBody>
      </p:sp>
      <p:sp>
        <p:nvSpPr>
          <p:cNvPr id="30" name="TextBox 29"/>
          <p:cNvSpPr txBox="1"/>
          <p:nvPr/>
        </p:nvSpPr>
        <p:spPr>
          <a:xfrm>
            <a:off x="4114800" y="5084064"/>
            <a:ext cx="333756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Private fee, no id check/event</a:t>
            </a:r>
          </a:p>
        </p:txBody>
      </p:sp>
      <p:sp>
        <p:nvSpPr>
          <p:cNvPr id="31" name="TextBox 30"/>
          <p:cNvSpPr txBox="1"/>
          <p:nvPr/>
        </p:nvSpPr>
        <p:spPr>
          <a:xfrm>
            <a:off x="7863840" y="5084064"/>
            <a:ext cx="3520440" cy="566928"/>
          </a:xfrm>
          <a:prstGeom prst="rect">
            <a:avLst/>
          </a:prstGeom>
          <a:noFill/>
        </p:spPr>
        <p:txBody>
          <a:bodyPr wrap="square" lIns="13716" tIns="0" rIns="13716" bIns="0">
            <a:spAutoFit/>
          </a:bodyPr>
          <a:lstStyle/>
          <a:p>
            <a:pPr>
              <a:spcAft>
                <a:spcPts val="300"/>
              </a:spcAft>
              <a:defRPr sz="1400" b="0">
                <a:solidFill>
                  <a:srgbClr val="E8ECF1"/>
                </a:solidFill>
                <a:latin typeface="Menlo"/>
              </a:defRPr>
            </a:pPr>
            <a:r>
              <a:t>public levelUpFee; emit LevelUp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AvengerContract: a local NPC</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06</a:t>
            </a:r>
          </a:p>
        </p:txBody>
      </p:sp>
      <p:sp>
        <p:nvSpPr>
          <p:cNvPr id="7" name="Rounded Rectangle 6"/>
          <p:cNvSpPr/>
          <p:nvPr/>
        </p:nvSpPr>
        <p:spPr>
          <a:xfrm>
            <a:off x="548640" y="1609344"/>
            <a:ext cx="5486400" cy="2029968"/>
          </a:xfrm>
          <a:prstGeom prst="roundRect">
            <a:avLst>
              <a:gd name="adj" fmla="val 8000"/>
            </a:avLst>
          </a:prstGeom>
          <a:solidFill>
            <a:srgbClr val="12151A">
              <a:alpha val="77000"/>
            </a:srgbClr>
          </a:solidFill>
          <a:ln w="9525">
            <a:solidFill>
              <a:srgbClr val="F2C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847088"/>
            <a:ext cx="5029200" cy="1554480"/>
          </a:xfrm>
          <a:prstGeom prst="rect">
            <a:avLst/>
          </a:prstGeom>
          <a:noFill/>
        </p:spPr>
        <p:txBody>
          <a:bodyPr wrap="square" lIns="13716" tIns="0" rIns="13716" bIns="0">
            <a:spAutoFit/>
          </a:bodyPr>
          <a:lstStyle/>
          <a:p>
            <a:pPr>
              <a:spcAft>
                <a:spcPts val="300"/>
              </a:spcAft>
              <a:defRPr sz="1800" b="0">
                <a:solidFill>
                  <a:srgbClr val="E8ECF1"/>
                </a:solidFill>
                <a:latin typeface="Menlo"/>
              </a:defRPr>
            </a:pPr>
            <a:r>
              <a:t>power = genes % 10 + 1</a:t>
            </a:r>
          </a:p>
          <a:p>
            <a:pPr>
              <a:spcAft>
                <a:spcPts val="300"/>
              </a:spcAft>
              <a:defRPr sz="1800" b="0">
                <a:solidFill>
                  <a:srgbClr val="E8ECF1"/>
                </a:solidFill>
                <a:latin typeface="Menlo"/>
              </a:defRPr>
            </a:pPr>
            <a:r>
              <a:t>chance = clamp(50 + 5*level</a:t>
            </a:r>
          </a:p>
          <a:p>
            <a:pPr>
              <a:spcAft>
                <a:spcPts val="300"/>
              </a:spcAft>
              <a:defRPr sz="1800" b="0">
                <a:solidFill>
                  <a:srgbClr val="E8ECF1"/>
                </a:solidFill>
                <a:latin typeface="Menlo"/>
              </a:defRPr>
            </a:pPr>
            <a:r>
              <a:t>               - 5*power, 10, 90)</a:t>
            </a:r>
          </a:p>
          <a:p>
            <a:pPr>
              <a:spcAft>
                <a:spcPts val="300"/>
              </a:spcAft>
              <a:defRPr sz="1800" b="0">
                <a:solidFill>
                  <a:srgbClr val="E8ECF1"/>
                </a:solidFill>
                <a:latin typeface="Menlo"/>
              </a:defRPr>
            </a:pPr>
            <a:r>
              <a:t>win = roll &lt; chance</a:t>
            </a:r>
          </a:p>
        </p:txBody>
      </p:sp>
      <p:sp>
        <p:nvSpPr>
          <p:cNvPr id="9" name="TextBox 8"/>
          <p:cNvSpPr txBox="1"/>
          <p:nvPr/>
        </p:nvSpPr>
        <p:spPr>
          <a:xfrm>
            <a:off x="6355080" y="1737360"/>
            <a:ext cx="1371600" cy="301752"/>
          </a:xfrm>
          <a:prstGeom prst="rect">
            <a:avLst/>
          </a:prstGeom>
          <a:noFill/>
        </p:spPr>
        <p:txBody>
          <a:bodyPr wrap="square" lIns="13716" tIns="0" rIns="13716" bIns="0">
            <a:spAutoFit/>
          </a:bodyPr>
          <a:lstStyle/>
          <a:p>
            <a:pPr>
              <a:spcAft>
                <a:spcPts val="300"/>
              </a:spcAft>
              <a:defRPr sz="1400" b="0">
                <a:solidFill>
                  <a:srgbClr val="9AA4B2"/>
                </a:solidFill>
                <a:latin typeface="Menlo"/>
              </a:defRPr>
            </a:pPr>
            <a:r>
              <a:t>L8 / P4</a:t>
            </a:r>
          </a:p>
        </p:txBody>
      </p:sp>
      <p:sp>
        <p:nvSpPr>
          <p:cNvPr id="10" name="Rectangle 9"/>
          <p:cNvSpPr/>
          <p:nvPr/>
        </p:nvSpPr>
        <p:spPr>
          <a:xfrm>
            <a:off x="7772400" y="1773936"/>
            <a:ext cx="3154680" cy="201168"/>
          </a:xfrm>
          <a:prstGeom prst="rect">
            <a:avLst/>
          </a:prstGeom>
          <a:solidFill>
            <a:srgbClr val="262C36"/>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772400" y="1773936"/>
            <a:ext cx="2208276" cy="201168"/>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91088" y="1709928"/>
            <a:ext cx="640080" cy="320040"/>
          </a:xfrm>
          <a:prstGeom prst="rect">
            <a:avLst/>
          </a:prstGeom>
          <a:noFill/>
        </p:spPr>
        <p:txBody>
          <a:bodyPr wrap="square" lIns="13716" tIns="0" rIns="13716" bIns="0">
            <a:spAutoFit/>
          </a:bodyPr>
          <a:lstStyle/>
          <a:p>
            <a:pPr>
              <a:spcAft>
                <a:spcPts val="300"/>
              </a:spcAft>
              <a:defRPr sz="1600" b="0">
                <a:solidFill>
                  <a:srgbClr val="39FF88"/>
                </a:solidFill>
                <a:latin typeface="Inter"/>
              </a:defRPr>
            </a:pPr>
            <a:r>
              <a:t>70%</a:t>
            </a:r>
          </a:p>
        </p:txBody>
      </p:sp>
      <p:sp>
        <p:nvSpPr>
          <p:cNvPr id="13" name="TextBox 12"/>
          <p:cNvSpPr txBox="1"/>
          <p:nvPr/>
        </p:nvSpPr>
        <p:spPr>
          <a:xfrm>
            <a:off x="6355080" y="2331720"/>
            <a:ext cx="1371600" cy="301752"/>
          </a:xfrm>
          <a:prstGeom prst="rect">
            <a:avLst/>
          </a:prstGeom>
          <a:noFill/>
        </p:spPr>
        <p:txBody>
          <a:bodyPr wrap="square" lIns="13716" tIns="0" rIns="13716" bIns="0">
            <a:spAutoFit/>
          </a:bodyPr>
          <a:lstStyle/>
          <a:p>
            <a:pPr>
              <a:spcAft>
                <a:spcPts val="300"/>
              </a:spcAft>
              <a:defRPr sz="1400" b="0">
                <a:solidFill>
                  <a:srgbClr val="9AA4B2"/>
                </a:solidFill>
                <a:latin typeface="Menlo"/>
              </a:defRPr>
            </a:pPr>
            <a:r>
              <a:t>L8 / P9</a:t>
            </a:r>
          </a:p>
        </p:txBody>
      </p:sp>
      <p:sp>
        <p:nvSpPr>
          <p:cNvPr id="14" name="Rectangle 13"/>
          <p:cNvSpPr/>
          <p:nvPr/>
        </p:nvSpPr>
        <p:spPr>
          <a:xfrm>
            <a:off x="7772400" y="2368296"/>
            <a:ext cx="3154680" cy="201168"/>
          </a:xfrm>
          <a:prstGeom prst="rect">
            <a:avLst/>
          </a:prstGeom>
          <a:solidFill>
            <a:srgbClr val="262C36"/>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0" y="2368296"/>
            <a:ext cx="1419606" cy="201168"/>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91088" y="2304288"/>
            <a:ext cx="640080" cy="320040"/>
          </a:xfrm>
          <a:prstGeom prst="rect">
            <a:avLst/>
          </a:prstGeom>
          <a:noFill/>
        </p:spPr>
        <p:txBody>
          <a:bodyPr wrap="square" lIns="13716" tIns="0" rIns="13716" bIns="0">
            <a:spAutoFit/>
          </a:bodyPr>
          <a:lstStyle/>
          <a:p>
            <a:pPr>
              <a:spcAft>
                <a:spcPts val="300"/>
              </a:spcAft>
              <a:defRPr sz="1600" b="0">
                <a:solidFill>
                  <a:srgbClr val="39FF88"/>
                </a:solidFill>
                <a:latin typeface="Inter"/>
              </a:defRPr>
            </a:pPr>
            <a:r>
              <a:t>45%</a:t>
            </a:r>
          </a:p>
        </p:txBody>
      </p:sp>
      <p:sp>
        <p:nvSpPr>
          <p:cNvPr id="17" name="TextBox 16"/>
          <p:cNvSpPr txBox="1"/>
          <p:nvPr/>
        </p:nvSpPr>
        <p:spPr>
          <a:xfrm>
            <a:off x="6355080" y="2926080"/>
            <a:ext cx="1371600" cy="301752"/>
          </a:xfrm>
          <a:prstGeom prst="rect">
            <a:avLst/>
          </a:prstGeom>
          <a:noFill/>
        </p:spPr>
        <p:txBody>
          <a:bodyPr wrap="square" lIns="13716" tIns="0" rIns="13716" bIns="0">
            <a:spAutoFit/>
          </a:bodyPr>
          <a:lstStyle/>
          <a:p>
            <a:pPr>
              <a:spcAft>
                <a:spcPts val="300"/>
              </a:spcAft>
              <a:defRPr sz="1400" b="0">
                <a:solidFill>
                  <a:srgbClr val="9AA4B2"/>
                </a:solidFill>
                <a:latin typeface="Menlo"/>
              </a:defRPr>
            </a:pPr>
            <a:r>
              <a:t>L1 / P10</a:t>
            </a:r>
          </a:p>
        </p:txBody>
      </p:sp>
      <p:sp>
        <p:nvSpPr>
          <p:cNvPr id="18" name="Rectangle 17"/>
          <p:cNvSpPr/>
          <p:nvPr/>
        </p:nvSpPr>
        <p:spPr>
          <a:xfrm>
            <a:off x="7772400" y="2962656"/>
            <a:ext cx="3154680" cy="201168"/>
          </a:xfrm>
          <a:prstGeom prst="rect">
            <a:avLst/>
          </a:prstGeom>
          <a:solidFill>
            <a:srgbClr val="262C36"/>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772400" y="2962656"/>
            <a:ext cx="315468" cy="201168"/>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91088" y="2898648"/>
            <a:ext cx="640080" cy="320040"/>
          </a:xfrm>
          <a:prstGeom prst="rect">
            <a:avLst/>
          </a:prstGeom>
          <a:noFill/>
        </p:spPr>
        <p:txBody>
          <a:bodyPr wrap="square" lIns="13716" tIns="0" rIns="13716" bIns="0">
            <a:spAutoFit/>
          </a:bodyPr>
          <a:lstStyle/>
          <a:p>
            <a:pPr>
              <a:spcAft>
                <a:spcPts val="300"/>
              </a:spcAft>
              <a:defRPr sz="1600" b="0">
                <a:solidFill>
                  <a:srgbClr val="39FF88"/>
                </a:solidFill>
                <a:latin typeface="Inter"/>
              </a:defRPr>
            </a:pPr>
            <a:r>
              <a:t>10%</a:t>
            </a:r>
          </a:p>
        </p:txBody>
      </p:sp>
      <p:sp>
        <p:nvSpPr>
          <p:cNvPr id="21" name="TextBox 20"/>
          <p:cNvSpPr txBox="1"/>
          <p:nvPr/>
        </p:nvSpPr>
        <p:spPr>
          <a:xfrm>
            <a:off x="6355080" y="3520440"/>
            <a:ext cx="1371600" cy="301752"/>
          </a:xfrm>
          <a:prstGeom prst="rect">
            <a:avLst/>
          </a:prstGeom>
          <a:noFill/>
        </p:spPr>
        <p:txBody>
          <a:bodyPr wrap="square" lIns="13716" tIns="0" rIns="13716" bIns="0">
            <a:spAutoFit/>
          </a:bodyPr>
          <a:lstStyle/>
          <a:p>
            <a:pPr>
              <a:spcAft>
                <a:spcPts val="300"/>
              </a:spcAft>
              <a:defRPr sz="1400" b="0">
                <a:solidFill>
                  <a:srgbClr val="9AA4B2"/>
                </a:solidFill>
                <a:latin typeface="Menlo"/>
              </a:defRPr>
            </a:pPr>
            <a:r>
              <a:t>L20 / P1</a:t>
            </a:r>
          </a:p>
        </p:txBody>
      </p:sp>
      <p:sp>
        <p:nvSpPr>
          <p:cNvPr id="22" name="Rectangle 21"/>
          <p:cNvSpPr/>
          <p:nvPr/>
        </p:nvSpPr>
        <p:spPr>
          <a:xfrm>
            <a:off x="7772400" y="3557016"/>
            <a:ext cx="3154680" cy="201168"/>
          </a:xfrm>
          <a:prstGeom prst="rect">
            <a:avLst/>
          </a:prstGeom>
          <a:solidFill>
            <a:srgbClr val="262C36"/>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2400" y="3557016"/>
            <a:ext cx="2839212" cy="201168"/>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91088" y="3493008"/>
            <a:ext cx="640080" cy="320040"/>
          </a:xfrm>
          <a:prstGeom prst="rect">
            <a:avLst/>
          </a:prstGeom>
          <a:noFill/>
        </p:spPr>
        <p:txBody>
          <a:bodyPr wrap="square" lIns="13716" tIns="0" rIns="13716" bIns="0">
            <a:spAutoFit/>
          </a:bodyPr>
          <a:lstStyle/>
          <a:p>
            <a:pPr>
              <a:spcAft>
                <a:spcPts val="300"/>
              </a:spcAft>
              <a:defRPr sz="1600" b="0">
                <a:solidFill>
                  <a:srgbClr val="39FF88"/>
                </a:solidFill>
                <a:latin typeface="Inter"/>
              </a:defRPr>
            </a:pPr>
            <a:r>
              <a:t>90%</a:t>
            </a:r>
          </a:p>
        </p:txBody>
      </p:sp>
      <p:sp>
        <p:nvSpPr>
          <p:cNvPr id="25" name="TextBox 24"/>
          <p:cNvSpPr txBox="1"/>
          <p:nvPr/>
        </p:nvSpPr>
        <p:spPr>
          <a:xfrm>
            <a:off x="731520" y="4069080"/>
            <a:ext cx="6492240" cy="137160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Anyone can createAvenger(genes)</a:t>
            </a:r>
          </a:p>
          <a:p>
            <a:pPr>
              <a:spcAft>
                <a:spcPts val="300"/>
              </a:spcAft>
              <a:defRPr sz="1800" b="0">
                <a:solidFill>
                  <a:srgbClr val="E8ECF1"/>
                </a:solidFill>
                <a:latin typeface="Inter"/>
              </a:defRPr>
            </a:pPr>
            <a:r>
              <a:t>Feeding creates hero DNA ending in 99</a:t>
            </a:r>
          </a:p>
          <a:p>
            <a:pPr>
              <a:spcAft>
                <a:spcPts val="300"/>
              </a:spcAft>
              <a:defRPr sz="1800" b="0">
                <a:solidFill>
                  <a:srgbClr val="E8ECF1"/>
                </a:solidFill>
                <a:latin typeface="Inter"/>
              </a:defRPr>
            </a:pPr>
            <a:r>
              <a:t>Replaces CryptoKitties locally</a:t>
            </a:r>
          </a:p>
        </p:txBody>
      </p:sp>
      <p:sp>
        <p:nvSpPr>
          <p:cNvPr id="26" name="Rounded Rectangle 25"/>
          <p:cNvSpPr/>
          <p:nvPr/>
        </p:nvSpPr>
        <p:spPr>
          <a:xfrm>
            <a:off x="7863840" y="4160520"/>
            <a:ext cx="3776472" cy="1783080"/>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User capture of the zombie DNA trait breakdown; user capture Screenshot 2026-10-18 at 5.38.25 PM.png"/>
          <p:cNvPicPr>
            <a:picLocks noChangeAspect="1"/>
          </p:cNvPicPr>
          <p:nvPr/>
        </p:nvPicPr>
        <p:blipFill>
          <a:blip r:embed="rId3"/>
          <a:srcRect t="14000" r="25500" b="1000"/>
          <a:stretch>
            <a:fillRect/>
          </a:stretch>
        </p:blipFill>
        <p:spPr>
          <a:xfrm>
            <a:off x="8851258" y="4224528"/>
            <a:ext cx="1801634" cy="1335024"/>
          </a:xfrm>
          <a:prstGeom prst="rect">
            <a:avLst/>
          </a:prstGeom>
        </p:spPr>
      </p:pic>
      <p:sp>
        <p:nvSpPr>
          <p:cNvPr id="28" name="TextBox 27"/>
          <p:cNvSpPr txBox="1"/>
          <p:nvPr/>
        </p:nvSpPr>
        <p:spPr>
          <a:xfrm>
            <a:off x="7946136" y="5669280"/>
            <a:ext cx="3611879"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DNA traits /zombie/:id</a:t>
            </a:r>
          </a:p>
        </p:txBody>
      </p:sp>
      <p:sp>
        <p:nvSpPr>
          <p:cNvPr id="29" name="TextBox 28"/>
          <p:cNvSpPr txBox="1"/>
          <p:nvPr/>
        </p:nvSpPr>
        <p:spPr>
          <a:xfrm>
            <a:off x="731520" y="5715000"/>
            <a:ext cx="6035040" cy="365760"/>
          </a:xfrm>
          <a:prstGeom prst="rect">
            <a:avLst/>
          </a:prstGeom>
          <a:noFill/>
        </p:spPr>
        <p:txBody>
          <a:bodyPr wrap="square" lIns="13716" tIns="0" rIns="13716" bIns="0">
            <a:spAutoFit/>
          </a:bodyPr>
          <a:lstStyle/>
          <a:p>
            <a:pPr>
              <a:spcAft>
                <a:spcPts val="300"/>
              </a:spcAft>
              <a:defRPr sz="2200" b="1">
                <a:solidFill>
                  <a:srgbClr val="39FF88"/>
                </a:solidFill>
                <a:latin typeface="Space Grotesk"/>
              </a:defRPr>
            </a:pPr>
            <a:r>
              <a:t>Now the live demo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Frontend tour</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07</a:t>
            </a:r>
          </a:p>
        </p:txBody>
      </p:sp>
      <p:sp>
        <p:nvSpPr>
          <p:cNvPr id="7" name="Rounded Rectangle 6"/>
          <p:cNvSpPr/>
          <p:nvPr/>
        </p:nvSpPr>
        <p:spPr>
          <a:xfrm>
            <a:off x="548640" y="1581912"/>
            <a:ext cx="3547872" cy="2139696"/>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3"/>
          <a:srcRect l="6176" r="6176"/>
          <a:stretch/>
        </p:blipFill>
        <p:spPr>
          <a:xfrm>
            <a:off x="630937" y="1645920"/>
            <a:ext cx="3383278" cy="1691639"/>
          </a:xfrm>
          <a:prstGeom prst="rect">
            <a:avLst/>
          </a:prstGeom>
        </p:spPr>
      </p:pic>
      <p:sp>
        <p:nvSpPr>
          <p:cNvPr id="9" name="TextBox 8"/>
          <p:cNvSpPr txBox="1"/>
          <p:nvPr/>
        </p:nvSpPr>
        <p:spPr>
          <a:xfrm>
            <a:off x="630936" y="3447288"/>
            <a:ext cx="3383279"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Army  /</a:t>
            </a:r>
          </a:p>
        </p:txBody>
      </p:sp>
      <p:sp>
        <p:nvSpPr>
          <p:cNvPr id="10" name="Rounded Rectangle 9"/>
          <p:cNvSpPr/>
          <p:nvPr/>
        </p:nvSpPr>
        <p:spPr>
          <a:xfrm>
            <a:off x="4325112" y="1581912"/>
            <a:ext cx="3547872" cy="2139696"/>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a:blip r:embed="rId4"/>
          <a:srcRect l="6176" r="6176"/>
          <a:stretch/>
        </p:blipFill>
        <p:spPr>
          <a:xfrm>
            <a:off x="4407407" y="1645920"/>
            <a:ext cx="3383279" cy="1691639"/>
          </a:xfrm>
          <a:prstGeom prst="rect">
            <a:avLst/>
          </a:prstGeom>
        </p:spPr>
      </p:pic>
      <p:sp>
        <p:nvSpPr>
          <p:cNvPr id="12" name="TextBox 11"/>
          <p:cNvSpPr txBox="1"/>
          <p:nvPr/>
        </p:nvSpPr>
        <p:spPr>
          <a:xfrm>
            <a:off x="4407407" y="3447288"/>
            <a:ext cx="3383279"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Factory  /create</a:t>
            </a:r>
          </a:p>
        </p:txBody>
      </p:sp>
      <p:sp>
        <p:nvSpPr>
          <p:cNvPr id="13" name="Rounded Rectangle 12"/>
          <p:cNvSpPr/>
          <p:nvPr/>
        </p:nvSpPr>
        <p:spPr>
          <a:xfrm>
            <a:off x="8101583" y="1581912"/>
            <a:ext cx="3547872" cy="2139696"/>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p:cNvPicPr>
            <a:picLocks noChangeAspect="1"/>
          </p:cNvPicPr>
          <p:nvPr/>
        </p:nvPicPr>
        <p:blipFill>
          <a:blip r:embed="rId5"/>
          <a:srcRect l="6176" r="6176"/>
          <a:stretch/>
        </p:blipFill>
        <p:spPr>
          <a:xfrm>
            <a:off x="8183879" y="1645920"/>
            <a:ext cx="3377184" cy="1691639"/>
          </a:xfrm>
          <a:prstGeom prst="rect">
            <a:avLst/>
          </a:prstGeom>
        </p:spPr>
      </p:pic>
      <p:sp>
        <p:nvSpPr>
          <p:cNvPr id="15" name="TextBox 14"/>
          <p:cNvSpPr txBox="1"/>
          <p:nvPr/>
        </p:nvSpPr>
        <p:spPr>
          <a:xfrm>
            <a:off x="8183879" y="3447288"/>
            <a:ext cx="3383279"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Detail  /zombie/:id</a:t>
            </a:r>
          </a:p>
        </p:txBody>
      </p:sp>
      <p:sp>
        <p:nvSpPr>
          <p:cNvPr id="16" name="Rounded Rectangle 15"/>
          <p:cNvSpPr/>
          <p:nvPr/>
        </p:nvSpPr>
        <p:spPr>
          <a:xfrm>
            <a:off x="548640" y="3886200"/>
            <a:ext cx="3547872" cy="2139696"/>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MetaMask connection permission prompt; user capture Screenshot 2026-10-18 at 5.18.01 PM.png"/>
          <p:cNvPicPr>
            <a:picLocks noChangeAspect="1"/>
          </p:cNvPicPr>
          <p:nvPr/>
        </p:nvPicPr>
        <p:blipFill>
          <a:blip r:embed="rId6"/>
          <a:srcRect t="14000" b="1000"/>
          <a:stretch>
            <a:fillRect/>
          </a:stretch>
        </p:blipFill>
        <p:spPr>
          <a:xfrm>
            <a:off x="630936" y="3950208"/>
            <a:ext cx="3383278" cy="1691639"/>
          </a:xfrm>
          <a:prstGeom prst="rect">
            <a:avLst/>
          </a:prstGeom>
        </p:spPr>
      </p:pic>
      <p:sp>
        <p:nvSpPr>
          <p:cNvPr id="18" name="TextBox 17"/>
          <p:cNvSpPr txBox="1"/>
          <p:nvPr/>
        </p:nvSpPr>
        <p:spPr>
          <a:xfrm>
            <a:off x="630936" y="5751576"/>
            <a:ext cx="3383279"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Connect  MetaMask</a:t>
            </a:r>
          </a:p>
        </p:txBody>
      </p:sp>
      <p:sp>
        <p:nvSpPr>
          <p:cNvPr id="19" name="Rounded Rectangle 18"/>
          <p:cNvSpPr/>
          <p:nvPr/>
        </p:nvSpPr>
        <p:spPr>
          <a:xfrm>
            <a:off x="4325112" y="3886200"/>
            <a:ext cx="3547872" cy="2139696"/>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MetaMask request to approve a level-up transaction; user capture Screenshot 2026-10-18 at 5.18.50 PM.png"/>
          <p:cNvPicPr>
            <a:picLocks noChangeAspect="1"/>
          </p:cNvPicPr>
          <p:nvPr/>
        </p:nvPicPr>
        <p:blipFill>
          <a:blip r:embed="rId7"/>
          <a:srcRect t="14000" b="1000"/>
          <a:stretch>
            <a:fillRect/>
          </a:stretch>
        </p:blipFill>
        <p:spPr>
          <a:xfrm>
            <a:off x="4407407" y="3950208"/>
            <a:ext cx="3383279" cy="1691639"/>
          </a:xfrm>
          <a:prstGeom prst="rect">
            <a:avLst/>
          </a:prstGeom>
        </p:spPr>
      </p:pic>
      <p:sp>
        <p:nvSpPr>
          <p:cNvPr id="21" name="TextBox 20"/>
          <p:cNvSpPr txBox="1"/>
          <p:nvPr/>
        </p:nvSpPr>
        <p:spPr>
          <a:xfrm>
            <a:off x="4407407" y="5751576"/>
            <a:ext cx="3383279"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Level up  MetaMask</a:t>
            </a:r>
          </a:p>
        </p:txBody>
      </p:sp>
      <p:sp>
        <p:nvSpPr>
          <p:cNvPr id="22" name="Rounded Rectangle 21"/>
          <p:cNvSpPr/>
          <p:nvPr/>
        </p:nvSpPr>
        <p:spPr>
          <a:xfrm>
            <a:off x="8101583" y="3886200"/>
            <a:ext cx="3547872" cy="2139696"/>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p:cNvPicPr>
            <a:picLocks noChangeAspect="1"/>
          </p:cNvPicPr>
          <p:nvPr/>
        </p:nvPicPr>
        <p:blipFill>
          <a:blip r:embed="rId8"/>
          <a:srcRect l="6176" r="6176"/>
          <a:stretch/>
        </p:blipFill>
        <p:spPr>
          <a:xfrm>
            <a:off x="8183879" y="3950208"/>
            <a:ext cx="3377184" cy="1691639"/>
          </a:xfrm>
          <a:prstGeom prst="rect">
            <a:avLst/>
          </a:prstGeom>
        </p:spPr>
      </p:pic>
      <p:sp>
        <p:nvSpPr>
          <p:cNvPr id="24" name="TextBox 23"/>
          <p:cNvSpPr txBox="1"/>
          <p:nvPr/>
        </p:nvSpPr>
        <p:spPr>
          <a:xfrm>
            <a:off x="8183879" y="5751576"/>
            <a:ext cx="3383279"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Transfer  /zombie/:id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Wallet and tx handling</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08</a:t>
            </a:r>
          </a:p>
        </p:txBody>
      </p:sp>
      <p:sp>
        <p:nvSpPr>
          <p:cNvPr id="7" name="TextBox 6"/>
          <p:cNvSpPr txBox="1"/>
          <p:nvPr/>
        </p:nvSpPr>
        <p:spPr>
          <a:xfrm>
            <a:off x="548640" y="1508760"/>
            <a:ext cx="5303520" cy="274320"/>
          </a:xfrm>
          <a:prstGeom prst="rect">
            <a:avLst/>
          </a:prstGeom>
          <a:noFill/>
        </p:spPr>
        <p:txBody>
          <a:bodyPr wrap="square" lIns="13716" tIns="0" rIns="13716" bIns="0">
            <a:spAutoFit/>
          </a:bodyPr>
          <a:lstStyle/>
          <a:p>
            <a:pPr>
              <a:spcAft>
                <a:spcPts val="300"/>
              </a:spcAft>
              <a:defRPr sz="1200" b="1">
                <a:solidFill>
                  <a:srgbClr val="9AA4B2"/>
                </a:solidFill>
                <a:latin typeface="Inter"/>
              </a:defRPr>
            </a:pPr>
            <a:r>
              <a:t>WALLET STATES</a:t>
            </a:r>
          </a:p>
        </p:txBody>
      </p:sp>
      <p:sp>
        <p:nvSpPr>
          <p:cNvPr id="8" name="TextBox 7"/>
          <p:cNvSpPr txBox="1"/>
          <p:nvPr/>
        </p:nvSpPr>
        <p:spPr>
          <a:xfrm>
            <a:off x="6245352" y="1508760"/>
            <a:ext cx="5303520" cy="274320"/>
          </a:xfrm>
          <a:prstGeom prst="rect">
            <a:avLst/>
          </a:prstGeom>
          <a:noFill/>
        </p:spPr>
        <p:txBody>
          <a:bodyPr wrap="square" lIns="13716" tIns="0" rIns="13716" bIns="0">
            <a:spAutoFit/>
          </a:bodyPr>
          <a:lstStyle/>
          <a:p>
            <a:pPr>
              <a:spcAft>
                <a:spcPts val="300"/>
              </a:spcAft>
              <a:defRPr sz="1200" b="1">
                <a:solidFill>
                  <a:srgbClr val="9AA4B2"/>
                </a:solidFill>
                <a:latin typeface="Inter"/>
              </a:defRPr>
            </a:pPr>
            <a:r>
              <a:t>TRANSACTION STATES</a:t>
            </a:r>
          </a:p>
        </p:txBody>
      </p:sp>
      <p:sp>
        <p:nvSpPr>
          <p:cNvPr id="9" name="Rounded Rectangle 8"/>
          <p:cNvSpPr/>
          <p:nvPr/>
        </p:nvSpPr>
        <p:spPr>
          <a:xfrm>
            <a:off x="548640" y="1883664"/>
            <a:ext cx="2514600" cy="502920"/>
          </a:xfrm>
          <a:prstGeom prst="roundRect">
            <a:avLst>
              <a:gd name="adj" fmla="val 8000"/>
            </a:avLst>
          </a:prstGeom>
          <a:solidFill>
            <a:srgbClr val="12151A">
              <a:alpha val="77000"/>
            </a:srgbClr>
          </a:solidFill>
          <a:ln w="9525">
            <a:solidFill>
              <a:srgbClr val="FF5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2002536"/>
            <a:ext cx="2295144" cy="320040"/>
          </a:xfrm>
          <a:prstGeom prst="rect">
            <a:avLst/>
          </a:prstGeom>
          <a:noFill/>
        </p:spPr>
        <p:txBody>
          <a:bodyPr wrap="square" lIns="13716" tIns="0" rIns="13716" bIns="0">
            <a:spAutoFit/>
          </a:bodyPr>
          <a:lstStyle/>
          <a:p>
            <a:pPr algn="ctr">
              <a:spcAft>
                <a:spcPts val="300"/>
              </a:spcAft>
              <a:defRPr sz="1600" b="0">
                <a:solidFill>
                  <a:srgbClr val="E8ECF1"/>
                </a:solidFill>
                <a:latin typeface="Inter"/>
              </a:defRPr>
            </a:pPr>
            <a:r>
              <a:t>rpc-down</a:t>
            </a:r>
          </a:p>
        </p:txBody>
      </p:sp>
      <p:sp>
        <p:nvSpPr>
          <p:cNvPr id="11" name="Rounded Rectangle 10"/>
          <p:cNvSpPr/>
          <p:nvPr/>
        </p:nvSpPr>
        <p:spPr>
          <a:xfrm>
            <a:off x="3291840" y="1883664"/>
            <a:ext cx="2514600" cy="502920"/>
          </a:xfrm>
          <a:prstGeom prst="roundRect">
            <a:avLst>
              <a:gd name="adj" fmla="val 8000"/>
            </a:avLst>
          </a:prstGeom>
          <a:solidFill>
            <a:srgbClr val="12151A">
              <a:alpha val="77000"/>
            </a:srgbClr>
          </a:solidFill>
          <a:ln w="9525">
            <a:solidFill>
              <a:srgbClr val="FF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01568" y="2002536"/>
            <a:ext cx="2295144" cy="320040"/>
          </a:xfrm>
          <a:prstGeom prst="rect">
            <a:avLst/>
          </a:prstGeom>
          <a:noFill/>
        </p:spPr>
        <p:txBody>
          <a:bodyPr wrap="square" lIns="13716" tIns="0" rIns="13716" bIns="0">
            <a:spAutoFit/>
          </a:bodyPr>
          <a:lstStyle/>
          <a:p>
            <a:pPr algn="ctr">
              <a:spcAft>
                <a:spcPts val="300"/>
              </a:spcAft>
              <a:defRPr sz="1600" b="0">
                <a:solidFill>
                  <a:srgbClr val="E8ECF1"/>
                </a:solidFill>
                <a:latin typeface="Inter"/>
              </a:defRPr>
            </a:pPr>
            <a:r>
              <a:t>no-contract</a:t>
            </a:r>
          </a:p>
        </p:txBody>
      </p:sp>
      <p:sp>
        <p:nvSpPr>
          <p:cNvPr id="13" name="TextBox 12"/>
          <p:cNvSpPr txBox="1"/>
          <p:nvPr/>
        </p:nvSpPr>
        <p:spPr>
          <a:xfrm>
            <a:off x="640080" y="2514600"/>
            <a:ext cx="5029200" cy="274320"/>
          </a:xfrm>
          <a:prstGeom prst="rect">
            <a:avLst/>
          </a:prstGeom>
          <a:noFill/>
        </p:spPr>
        <p:txBody>
          <a:bodyPr wrap="square" lIns="13716" tIns="0" rIns="13716" bIns="0">
            <a:spAutoFit/>
          </a:bodyPr>
          <a:lstStyle/>
          <a:p>
            <a:pPr>
              <a:spcAft>
                <a:spcPts val="300"/>
              </a:spcAft>
              <a:defRPr sz="1400" b="0">
                <a:solidFill>
                  <a:srgbClr val="9AA4B2"/>
                </a:solidFill>
                <a:latin typeface="Inter"/>
              </a:defRPr>
            </a:pPr>
            <a:r>
              <a:t>Top-priority banners</a:t>
            </a:r>
          </a:p>
        </p:txBody>
      </p:sp>
      <p:sp>
        <p:nvSpPr>
          <p:cNvPr id="14" name="Rounded Rectangle 13"/>
          <p:cNvSpPr/>
          <p:nvPr/>
        </p:nvSpPr>
        <p:spPr>
          <a:xfrm>
            <a:off x="548640" y="2971800"/>
            <a:ext cx="2514600" cy="59436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 y="3090672"/>
            <a:ext cx="2295144" cy="411480"/>
          </a:xfrm>
          <a:prstGeom prst="rect">
            <a:avLst/>
          </a:prstGeom>
          <a:noFill/>
        </p:spPr>
        <p:txBody>
          <a:bodyPr wrap="square" lIns="13716" tIns="0" rIns="13716" bIns="0">
            <a:spAutoFit/>
          </a:bodyPr>
          <a:lstStyle/>
          <a:p>
            <a:pPr algn="ctr">
              <a:spcAft>
                <a:spcPts val="300"/>
              </a:spcAft>
              <a:defRPr sz="1600" b="0">
                <a:solidFill>
                  <a:srgbClr val="E8ECF1"/>
                </a:solidFill>
                <a:latin typeface="Inter"/>
              </a:defRPr>
            </a:pPr>
            <a:r>
              <a:t>no-metamask</a:t>
            </a:r>
          </a:p>
        </p:txBody>
      </p:sp>
      <p:sp>
        <p:nvSpPr>
          <p:cNvPr id="16" name="Rounded Rectangle 15"/>
          <p:cNvSpPr/>
          <p:nvPr/>
        </p:nvSpPr>
        <p:spPr>
          <a:xfrm>
            <a:off x="3291840" y="2971800"/>
            <a:ext cx="2514600" cy="59436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01568" y="3090672"/>
            <a:ext cx="2295144" cy="411480"/>
          </a:xfrm>
          <a:prstGeom prst="rect">
            <a:avLst/>
          </a:prstGeom>
          <a:noFill/>
        </p:spPr>
        <p:txBody>
          <a:bodyPr wrap="square" lIns="13716" tIns="0" rIns="13716" bIns="0">
            <a:spAutoFit/>
          </a:bodyPr>
          <a:lstStyle/>
          <a:p>
            <a:pPr algn="ctr">
              <a:spcAft>
                <a:spcPts val="300"/>
              </a:spcAft>
              <a:defRPr sz="1600" b="0">
                <a:solidFill>
                  <a:srgbClr val="E8ECF1"/>
                </a:solidFill>
                <a:latin typeface="Inter"/>
              </a:defRPr>
            </a:pPr>
            <a:r>
              <a:t>disconnected</a:t>
            </a:r>
          </a:p>
        </p:txBody>
      </p:sp>
      <p:sp>
        <p:nvSpPr>
          <p:cNvPr id="18" name="Rounded Rectangle 17"/>
          <p:cNvSpPr/>
          <p:nvPr/>
        </p:nvSpPr>
        <p:spPr>
          <a:xfrm>
            <a:off x="3291840" y="3886200"/>
            <a:ext cx="2514600" cy="59436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01568" y="4005072"/>
            <a:ext cx="2295144" cy="411480"/>
          </a:xfrm>
          <a:prstGeom prst="rect">
            <a:avLst/>
          </a:prstGeom>
          <a:noFill/>
        </p:spPr>
        <p:txBody>
          <a:bodyPr wrap="square" lIns="13716" tIns="0" rIns="13716" bIns="0">
            <a:spAutoFit/>
          </a:bodyPr>
          <a:lstStyle/>
          <a:p>
            <a:pPr algn="ctr">
              <a:spcAft>
                <a:spcPts val="300"/>
              </a:spcAft>
              <a:defRPr sz="1600" b="0">
                <a:solidFill>
                  <a:srgbClr val="E8ECF1"/>
                </a:solidFill>
                <a:latin typeface="Inter"/>
              </a:defRPr>
            </a:pPr>
            <a:r>
              <a:t>connecting</a:t>
            </a:r>
          </a:p>
        </p:txBody>
      </p:sp>
      <p:sp>
        <p:nvSpPr>
          <p:cNvPr id="20" name="Rounded Rectangle 19"/>
          <p:cNvSpPr/>
          <p:nvPr/>
        </p:nvSpPr>
        <p:spPr>
          <a:xfrm>
            <a:off x="548640" y="3886200"/>
            <a:ext cx="2514600" cy="594360"/>
          </a:xfrm>
          <a:prstGeom prst="roundRect">
            <a:avLst>
              <a:gd name="adj" fmla="val 8000"/>
            </a:avLst>
          </a:prstGeom>
          <a:solidFill>
            <a:srgbClr val="12151A">
              <a:alpha val="77000"/>
            </a:srgbClr>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4005072"/>
            <a:ext cx="2295144" cy="411480"/>
          </a:xfrm>
          <a:prstGeom prst="rect">
            <a:avLst/>
          </a:prstGeom>
          <a:noFill/>
        </p:spPr>
        <p:txBody>
          <a:bodyPr wrap="square" lIns="13716" tIns="0" rIns="13716" bIns="0">
            <a:spAutoFit/>
          </a:bodyPr>
          <a:lstStyle/>
          <a:p>
            <a:pPr algn="ctr">
              <a:spcAft>
                <a:spcPts val="300"/>
              </a:spcAft>
              <a:defRPr sz="1600" b="0">
                <a:solidFill>
                  <a:srgbClr val="E8ECF1"/>
                </a:solidFill>
                <a:latin typeface="Inter"/>
              </a:defRPr>
            </a:pPr>
            <a:r>
              <a:t>ready</a:t>
            </a:r>
          </a:p>
        </p:txBody>
      </p:sp>
      <p:sp>
        <p:nvSpPr>
          <p:cNvPr id="22" name="Rounded Rectangle 21"/>
          <p:cNvSpPr/>
          <p:nvPr/>
        </p:nvSpPr>
        <p:spPr>
          <a:xfrm>
            <a:off x="548640" y="4800600"/>
            <a:ext cx="2514600" cy="594360"/>
          </a:xfrm>
          <a:prstGeom prst="roundRect">
            <a:avLst>
              <a:gd name="adj" fmla="val 8000"/>
            </a:avLst>
          </a:prstGeom>
          <a:solidFill>
            <a:srgbClr val="12151A">
              <a:alpha val="77000"/>
            </a:srgbClr>
          </a:solidFill>
          <a:ln w="9525">
            <a:solidFill>
              <a:srgbClr val="FF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919472"/>
            <a:ext cx="2295144" cy="411480"/>
          </a:xfrm>
          <a:prstGeom prst="rect">
            <a:avLst/>
          </a:prstGeom>
          <a:noFill/>
        </p:spPr>
        <p:txBody>
          <a:bodyPr wrap="square" lIns="13716" tIns="0" rIns="13716" bIns="0">
            <a:spAutoFit/>
          </a:bodyPr>
          <a:lstStyle/>
          <a:p>
            <a:pPr algn="ctr">
              <a:spcAft>
                <a:spcPts val="300"/>
              </a:spcAft>
              <a:defRPr sz="1600" b="0">
                <a:solidFill>
                  <a:srgbClr val="E8ECF1"/>
                </a:solidFill>
                <a:latin typeface="Inter"/>
              </a:defRPr>
            </a:pPr>
            <a:r>
              <a:t>wrong-network</a:t>
            </a:r>
          </a:p>
        </p:txBody>
      </p:sp>
      <p:cxnSp>
        <p:nvCxnSpPr>
          <p:cNvPr id="24" name="Connector 23"/>
          <p:cNvCxnSpPr/>
          <p:nvPr/>
        </p:nvCxnSpPr>
        <p:spPr>
          <a:xfrm>
            <a:off x="4553712" y="3566160"/>
            <a:ext cx="0" cy="320040"/>
          </a:xfrm>
          <a:prstGeom prst="line">
            <a:avLst/>
          </a:prstGeom>
          <a:ln w="19050">
            <a:solidFill>
              <a:srgbClr val="9AA4B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3063240" y="4187952"/>
            <a:ext cx="228600" cy="0"/>
          </a:xfrm>
          <a:prstGeom prst="line">
            <a:avLst/>
          </a:prstGeom>
          <a:ln w="19050">
            <a:solidFill>
              <a:srgbClr val="39FF88"/>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691640" y="4480560"/>
            <a:ext cx="0" cy="320040"/>
          </a:xfrm>
          <a:prstGeom prst="line">
            <a:avLst/>
          </a:prstGeom>
          <a:ln w="19050">
            <a:solidFill>
              <a:srgbClr val="9AA4B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920240" y="4480560"/>
            <a:ext cx="0" cy="320040"/>
          </a:xfrm>
          <a:prstGeom prst="line">
            <a:avLst/>
          </a:prstGeom>
          <a:ln w="19050">
            <a:solidFill>
              <a:srgbClr val="39FF88"/>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291840" y="4919472"/>
            <a:ext cx="2514600" cy="320040"/>
          </a:xfrm>
          <a:prstGeom prst="rect">
            <a:avLst/>
          </a:prstGeom>
          <a:noFill/>
        </p:spPr>
        <p:txBody>
          <a:bodyPr wrap="square" lIns="13716" tIns="0" rIns="13716" bIns="0">
            <a:spAutoFit/>
          </a:bodyPr>
          <a:lstStyle/>
          <a:p>
            <a:pPr>
              <a:spcAft>
                <a:spcPts val="300"/>
              </a:spcAft>
              <a:defRPr sz="1400" b="0">
                <a:solidFill>
                  <a:srgbClr val="9AA4B2"/>
                </a:solidFill>
                <a:latin typeface="Inter"/>
              </a:defRPr>
            </a:pPr>
            <a:r>
              <a:t>switch / refresh</a:t>
            </a:r>
          </a:p>
        </p:txBody>
      </p:sp>
      <p:sp>
        <p:nvSpPr>
          <p:cNvPr id="29" name="Rounded Rectangle 28"/>
          <p:cNvSpPr/>
          <p:nvPr/>
        </p:nvSpPr>
        <p:spPr>
          <a:xfrm>
            <a:off x="6245352" y="1883664"/>
            <a:ext cx="1252728" cy="73152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55080" y="2002536"/>
            <a:ext cx="1033272" cy="548640"/>
          </a:xfrm>
          <a:prstGeom prst="rect">
            <a:avLst/>
          </a:prstGeom>
          <a:noFill/>
        </p:spPr>
        <p:txBody>
          <a:bodyPr wrap="square" lIns="13716" tIns="0" rIns="13716" bIns="0">
            <a:spAutoFit/>
          </a:bodyPr>
          <a:lstStyle/>
          <a:p>
            <a:pPr algn="ctr">
              <a:spcAft>
                <a:spcPts val="300"/>
              </a:spcAft>
              <a:defRPr sz="1200" b="0">
                <a:solidFill>
                  <a:srgbClr val="E8ECF1"/>
                </a:solidFill>
                <a:latin typeface="Inter"/>
              </a:defRPr>
            </a:pPr>
            <a:r>
              <a:t>idle</a:t>
            </a:r>
          </a:p>
        </p:txBody>
      </p:sp>
      <p:cxnSp>
        <p:nvCxnSpPr>
          <p:cNvPr id="31" name="Connector 30"/>
          <p:cNvCxnSpPr/>
          <p:nvPr/>
        </p:nvCxnSpPr>
        <p:spPr>
          <a:xfrm>
            <a:off x="7498079" y="2249424"/>
            <a:ext cx="100585" cy="0"/>
          </a:xfrm>
          <a:prstGeom prst="line">
            <a:avLst/>
          </a:prstGeom>
          <a:ln w="19050">
            <a:solidFill>
              <a:srgbClr val="262C36"/>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598664" y="1883664"/>
            <a:ext cx="1252728" cy="73152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08392" y="2002536"/>
            <a:ext cx="1033272" cy="548640"/>
          </a:xfrm>
          <a:prstGeom prst="rect">
            <a:avLst/>
          </a:prstGeom>
          <a:noFill/>
        </p:spPr>
        <p:txBody>
          <a:bodyPr wrap="square" lIns="13716" tIns="0" rIns="13716" bIns="0">
            <a:spAutoFit/>
          </a:bodyPr>
          <a:lstStyle/>
          <a:p>
            <a:pPr algn="ctr">
              <a:spcAft>
                <a:spcPts val="300"/>
              </a:spcAft>
              <a:defRPr sz="1200" b="0">
                <a:solidFill>
                  <a:srgbClr val="E8ECF1"/>
                </a:solidFill>
                <a:latin typeface="Inter"/>
              </a:defRPr>
            </a:pPr>
            <a:r>
              <a:t>awaiting-signature</a:t>
            </a:r>
          </a:p>
        </p:txBody>
      </p:sp>
      <p:cxnSp>
        <p:nvCxnSpPr>
          <p:cNvPr id="34" name="Connector 33"/>
          <p:cNvCxnSpPr/>
          <p:nvPr/>
        </p:nvCxnSpPr>
        <p:spPr>
          <a:xfrm>
            <a:off x="8851392" y="2249424"/>
            <a:ext cx="100584" cy="0"/>
          </a:xfrm>
          <a:prstGeom prst="line">
            <a:avLst/>
          </a:prstGeom>
          <a:ln w="19050">
            <a:solidFill>
              <a:srgbClr val="262C36"/>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8951976" y="1883664"/>
            <a:ext cx="1252728" cy="731520"/>
          </a:xfrm>
          <a:prstGeom prst="roundRect">
            <a:avLst>
              <a:gd name="adj" fmla="val 8000"/>
            </a:avLst>
          </a:prstGeom>
          <a:solidFill>
            <a:srgbClr val="12151A">
              <a:alpha val="77000"/>
            </a:srgbClr>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061703" y="2002536"/>
            <a:ext cx="1033272" cy="548640"/>
          </a:xfrm>
          <a:prstGeom prst="rect">
            <a:avLst/>
          </a:prstGeom>
          <a:noFill/>
        </p:spPr>
        <p:txBody>
          <a:bodyPr wrap="square" lIns="13716" tIns="0" rIns="13716" bIns="0">
            <a:spAutoFit/>
          </a:bodyPr>
          <a:lstStyle/>
          <a:p>
            <a:pPr algn="ctr">
              <a:spcAft>
                <a:spcPts val="300"/>
              </a:spcAft>
              <a:defRPr sz="1200" b="0">
                <a:solidFill>
                  <a:srgbClr val="E8ECF1"/>
                </a:solidFill>
                <a:latin typeface="Inter"/>
              </a:defRPr>
            </a:pPr>
            <a:r>
              <a:t>pending</a:t>
            </a:r>
          </a:p>
        </p:txBody>
      </p:sp>
      <p:cxnSp>
        <p:nvCxnSpPr>
          <p:cNvPr id="37" name="Connector 36"/>
          <p:cNvCxnSpPr/>
          <p:nvPr/>
        </p:nvCxnSpPr>
        <p:spPr>
          <a:xfrm>
            <a:off x="10204704" y="2249424"/>
            <a:ext cx="100584" cy="0"/>
          </a:xfrm>
          <a:prstGeom prst="line">
            <a:avLst/>
          </a:prstGeom>
          <a:ln w="19050">
            <a:solidFill>
              <a:srgbClr val="39FF88"/>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10305288" y="1883664"/>
            <a:ext cx="1252728" cy="731520"/>
          </a:xfrm>
          <a:prstGeom prst="roundRect">
            <a:avLst>
              <a:gd name="adj" fmla="val 8000"/>
            </a:avLst>
          </a:prstGeom>
          <a:solidFill>
            <a:srgbClr val="12151A">
              <a:alpha val="77000"/>
            </a:srgbClr>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415015" y="2002536"/>
            <a:ext cx="1033272" cy="548640"/>
          </a:xfrm>
          <a:prstGeom prst="rect">
            <a:avLst/>
          </a:prstGeom>
          <a:noFill/>
        </p:spPr>
        <p:txBody>
          <a:bodyPr wrap="square" lIns="13716" tIns="0" rIns="13716" bIns="0">
            <a:spAutoFit/>
          </a:bodyPr>
          <a:lstStyle/>
          <a:p>
            <a:pPr algn="ctr">
              <a:spcAft>
                <a:spcPts val="300"/>
              </a:spcAft>
              <a:defRPr sz="1200" b="0">
                <a:solidFill>
                  <a:srgbClr val="E8ECF1"/>
                </a:solidFill>
                <a:latin typeface="Inter"/>
              </a:defRPr>
            </a:pPr>
            <a:r>
              <a:t>confirmed</a:t>
            </a:r>
          </a:p>
        </p:txBody>
      </p:sp>
      <p:sp>
        <p:nvSpPr>
          <p:cNvPr id="40" name="Rounded Rectangle 39"/>
          <p:cNvSpPr/>
          <p:nvPr/>
        </p:nvSpPr>
        <p:spPr>
          <a:xfrm>
            <a:off x="6245352" y="2798064"/>
            <a:ext cx="1664208" cy="566928"/>
          </a:xfrm>
          <a:prstGeom prst="roundRect">
            <a:avLst>
              <a:gd name="adj" fmla="val 8000"/>
            </a:avLst>
          </a:prstGeom>
          <a:solidFill>
            <a:srgbClr val="12151A">
              <a:alpha val="77000"/>
            </a:srgbClr>
          </a:solidFill>
          <a:ln w="9525">
            <a:solidFill>
              <a:srgbClr val="FF5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55080" y="2916936"/>
            <a:ext cx="1444752" cy="384048"/>
          </a:xfrm>
          <a:prstGeom prst="rect">
            <a:avLst/>
          </a:prstGeom>
          <a:noFill/>
        </p:spPr>
        <p:txBody>
          <a:bodyPr wrap="square" lIns="13716" tIns="0" rIns="13716" bIns="0">
            <a:spAutoFit/>
          </a:bodyPr>
          <a:lstStyle/>
          <a:p>
            <a:pPr algn="ctr">
              <a:spcAft>
                <a:spcPts val="300"/>
              </a:spcAft>
              <a:defRPr sz="1400" b="0">
                <a:solidFill>
                  <a:srgbClr val="E8ECF1"/>
                </a:solidFill>
                <a:latin typeface="Inter"/>
              </a:defRPr>
            </a:pPr>
            <a:r>
              <a:t>reverted</a:t>
            </a:r>
          </a:p>
        </p:txBody>
      </p:sp>
      <p:sp>
        <p:nvSpPr>
          <p:cNvPr id="42" name="Rounded Rectangle 41"/>
          <p:cNvSpPr/>
          <p:nvPr/>
        </p:nvSpPr>
        <p:spPr>
          <a:xfrm>
            <a:off x="8055864" y="2798064"/>
            <a:ext cx="1664208" cy="566928"/>
          </a:xfrm>
          <a:prstGeom prst="roundRect">
            <a:avLst>
              <a:gd name="adj" fmla="val 8000"/>
            </a:avLst>
          </a:prstGeom>
          <a:solidFill>
            <a:srgbClr val="12151A">
              <a:alpha val="77000"/>
            </a:srgbClr>
          </a:solidFill>
          <a:ln w="9525">
            <a:solidFill>
              <a:srgbClr val="FFB5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65592" y="2916936"/>
            <a:ext cx="1444752" cy="384048"/>
          </a:xfrm>
          <a:prstGeom prst="rect">
            <a:avLst/>
          </a:prstGeom>
          <a:noFill/>
        </p:spPr>
        <p:txBody>
          <a:bodyPr wrap="square" lIns="13716" tIns="0" rIns="13716" bIns="0">
            <a:spAutoFit/>
          </a:bodyPr>
          <a:lstStyle/>
          <a:p>
            <a:pPr algn="ctr">
              <a:spcAft>
                <a:spcPts val="300"/>
              </a:spcAft>
              <a:defRPr sz="1400" b="0">
                <a:solidFill>
                  <a:srgbClr val="E8ECF1"/>
                </a:solidFill>
                <a:latin typeface="Inter"/>
              </a:defRPr>
            </a:pPr>
            <a:r>
              <a:t>rejected</a:t>
            </a:r>
          </a:p>
        </p:txBody>
      </p:sp>
      <p:sp>
        <p:nvSpPr>
          <p:cNvPr id="44" name="Rounded Rectangle 43"/>
          <p:cNvSpPr/>
          <p:nvPr/>
        </p:nvSpPr>
        <p:spPr>
          <a:xfrm>
            <a:off x="9866376" y="2798064"/>
            <a:ext cx="1664208" cy="566928"/>
          </a:xfrm>
          <a:prstGeom prst="roundRect">
            <a:avLst>
              <a:gd name="adj" fmla="val 8000"/>
            </a:avLst>
          </a:prstGeom>
          <a:solidFill>
            <a:srgbClr val="12151A">
              <a:alpha val="77000"/>
            </a:srgbClr>
          </a:solidFill>
          <a:ln w="9525">
            <a:solidFill>
              <a:srgbClr val="FF5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976103" y="2916936"/>
            <a:ext cx="1444752" cy="384048"/>
          </a:xfrm>
          <a:prstGeom prst="rect">
            <a:avLst/>
          </a:prstGeom>
          <a:noFill/>
        </p:spPr>
        <p:txBody>
          <a:bodyPr wrap="square" lIns="13716" tIns="0" rIns="13716" bIns="0">
            <a:spAutoFit/>
          </a:bodyPr>
          <a:lstStyle/>
          <a:p>
            <a:pPr algn="ctr">
              <a:spcAft>
                <a:spcPts val="300"/>
              </a:spcAft>
              <a:defRPr sz="1400" b="0">
                <a:solidFill>
                  <a:srgbClr val="E8ECF1"/>
                </a:solidFill>
                <a:latin typeface="Inter"/>
              </a:defRPr>
            </a:pPr>
            <a:r>
              <a:t>failed</a:t>
            </a:r>
          </a:p>
        </p:txBody>
      </p:sp>
      <p:sp>
        <p:nvSpPr>
          <p:cNvPr id="46" name="TextBox 45"/>
          <p:cNvSpPr txBox="1"/>
          <p:nvPr/>
        </p:nvSpPr>
        <p:spPr>
          <a:xfrm>
            <a:off x="6245352" y="3657600"/>
            <a:ext cx="1325880" cy="274320"/>
          </a:xfrm>
          <a:prstGeom prst="rect">
            <a:avLst/>
          </a:prstGeom>
          <a:noFill/>
        </p:spPr>
        <p:txBody>
          <a:bodyPr wrap="square" lIns="13716" tIns="0" rIns="13716" bIns="0">
            <a:spAutoFit/>
          </a:bodyPr>
          <a:lstStyle/>
          <a:p>
            <a:pPr>
              <a:spcAft>
                <a:spcPts val="300"/>
              </a:spcAft>
              <a:defRPr sz="1400" b="0">
                <a:solidFill>
                  <a:srgbClr val="9AA4B2"/>
                </a:solidFill>
                <a:latin typeface="Menlo"/>
              </a:defRPr>
            </a:pPr>
            <a:r>
              <a:t>rejected</a:t>
            </a:r>
          </a:p>
        </p:txBody>
      </p:sp>
      <p:sp>
        <p:nvSpPr>
          <p:cNvPr id="47" name="TextBox 46"/>
          <p:cNvSpPr txBox="1"/>
          <p:nvPr/>
        </p:nvSpPr>
        <p:spPr>
          <a:xfrm>
            <a:off x="7680960" y="3657600"/>
            <a:ext cx="3959352" cy="31089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You rejected the request in MetaMask.</a:t>
            </a:r>
          </a:p>
        </p:txBody>
      </p:sp>
      <p:sp>
        <p:nvSpPr>
          <p:cNvPr id="48" name="TextBox 47"/>
          <p:cNvSpPr txBox="1"/>
          <p:nvPr/>
        </p:nvSpPr>
        <p:spPr>
          <a:xfrm>
            <a:off x="6245352" y="4014215"/>
            <a:ext cx="1325880" cy="274320"/>
          </a:xfrm>
          <a:prstGeom prst="rect">
            <a:avLst/>
          </a:prstGeom>
          <a:noFill/>
        </p:spPr>
        <p:txBody>
          <a:bodyPr wrap="square" lIns="13716" tIns="0" rIns="13716" bIns="0">
            <a:spAutoFit/>
          </a:bodyPr>
          <a:lstStyle/>
          <a:p>
            <a:pPr>
              <a:spcAft>
                <a:spcPts val="300"/>
              </a:spcAft>
              <a:defRPr sz="1400" b="0">
                <a:solidFill>
                  <a:srgbClr val="9AA4B2"/>
                </a:solidFill>
                <a:latin typeface="Menlo"/>
              </a:defRPr>
            </a:pPr>
            <a:r>
              <a:t>funds</a:t>
            </a:r>
          </a:p>
        </p:txBody>
      </p:sp>
      <p:sp>
        <p:nvSpPr>
          <p:cNvPr id="49" name="TextBox 48"/>
          <p:cNvSpPr txBox="1"/>
          <p:nvPr/>
        </p:nvSpPr>
        <p:spPr>
          <a:xfrm>
            <a:off x="7680960" y="4014215"/>
            <a:ext cx="3959352" cy="31089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Not enough test ETH for gas and fees.</a:t>
            </a:r>
          </a:p>
        </p:txBody>
      </p:sp>
      <p:sp>
        <p:nvSpPr>
          <p:cNvPr id="50" name="TextBox 49"/>
          <p:cNvSpPr txBox="1"/>
          <p:nvPr/>
        </p:nvSpPr>
        <p:spPr>
          <a:xfrm>
            <a:off x="6245352" y="4370832"/>
            <a:ext cx="1325880" cy="274320"/>
          </a:xfrm>
          <a:prstGeom prst="rect">
            <a:avLst/>
          </a:prstGeom>
          <a:noFill/>
        </p:spPr>
        <p:txBody>
          <a:bodyPr wrap="square" lIns="13716" tIns="0" rIns="13716" bIns="0">
            <a:spAutoFit/>
          </a:bodyPr>
          <a:lstStyle/>
          <a:p>
            <a:pPr>
              <a:spcAft>
                <a:spcPts val="300"/>
              </a:spcAft>
              <a:defRPr sz="1400" b="0">
                <a:solidFill>
                  <a:srgbClr val="9AA4B2"/>
                </a:solidFill>
                <a:latin typeface="Menlo"/>
              </a:defRPr>
            </a:pPr>
            <a:r>
              <a:t>network</a:t>
            </a:r>
          </a:p>
        </p:txBody>
      </p:sp>
      <p:sp>
        <p:nvSpPr>
          <p:cNvPr id="51" name="TextBox 50"/>
          <p:cNvSpPr txBox="1"/>
          <p:nvPr/>
        </p:nvSpPr>
        <p:spPr>
          <a:xfrm>
            <a:off x="7680960" y="4370832"/>
            <a:ext cx="3959352" cy="31089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Switch MetaMask to Ganache.</a:t>
            </a:r>
          </a:p>
        </p:txBody>
      </p:sp>
      <p:sp>
        <p:nvSpPr>
          <p:cNvPr id="52" name="TextBox 51"/>
          <p:cNvSpPr txBox="1"/>
          <p:nvPr/>
        </p:nvSpPr>
        <p:spPr>
          <a:xfrm>
            <a:off x="6245352" y="4727448"/>
            <a:ext cx="1325880" cy="274320"/>
          </a:xfrm>
          <a:prstGeom prst="rect">
            <a:avLst/>
          </a:prstGeom>
          <a:noFill/>
        </p:spPr>
        <p:txBody>
          <a:bodyPr wrap="square" lIns="13716" tIns="0" rIns="13716" bIns="0">
            <a:spAutoFit/>
          </a:bodyPr>
          <a:lstStyle/>
          <a:p>
            <a:pPr>
              <a:spcAft>
                <a:spcPts val="300"/>
              </a:spcAft>
              <a:defRPr sz="1400" b="0">
                <a:solidFill>
                  <a:srgbClr val="9AA4B2"/>
                </a:solidFill>
                <a:latin typeface="Menlo"/>
              </a:defRPr>
            </a:pPr>
            <a:r>
              <a:t>reverted</a:t>
            </a:r>
          </a:p>
        </p:txBody>
      </p:sp>
      <p:sp>
        <p:nvSpPr>
          <p:cNvPr id="53" name="TextBox 52"/>
          <p:cNvSpPr txBox="1"/>
          <p:nvPr/>
        </p:nvSpPr>
        <p:spPr>
          <a:xfrm>
            <a:off x="7680960" y="4727448"/>
            <a:ext cx="3959352" cy="31089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You do not own this zombie.</a:t>
            </a:r>
          </a:p>
        </p:txBody>
      </p:sp>
      <p:sp>
        <p:nvSpPr>
          <p:cNvPr id="54" name="TextBox 53"/>
          <p:cNvSpPr txBox="1"/>
          <p:nvPr/>
        </p:nvSpPr>
        <p:spPr>
          <a:xfrm>
            <a:off x="6245352" y="5084064"/>
            <a:ext cx="1325880" cy="274320"/>
          </a:xfrm>
          <a:prstGeom prst="rect">
            <a:avLst/>
          </a:prstGeom>
          <a:noFill/>
        </p:spPr>
        <p:txBody>
          <a:bodyPr wrap="square" lIns="13716" tIns="0" rIns="13716" bIns="0">
            <a:spAutoFit/>
          </a:bodyPr>
          <a:lstStyle/>
          <a:p>
            <a:pPr>
              <a:spcAft>
                <a:spcPts val="300"/>
              </a:spcAft>
              <a:defRPr sz="1400" b="0">
                <a:solidFill>
                  <a:srgbClr val="9AA4B2"/>
                </a:solidFill>
                <a:latin typeface="Menlo"/>
              </a:defRPr>
            </a:pPr>
            <a:r>
              <a:t>unknown</a:t>
            </a:r>
          </a:p>
        </p:txBody>
      </p:sp>
      <p:sp>
        <p:nvSpPr>
          <p:cNvPr id="55" name="TextBox 54"/>
          <p:cNvSpPr txBox="1"/>
          <p:nvPr/>
        </p:nvSpPr>
        <p:spPr>
          <a:xfrm>
            <a:off x="7680960" y="5084064"/>
            <a:ext cx="3959352" cy="31089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Is npm run demo running?</a:t>
            </a:r>
          </a:p>
        </p:txBody>
      </p:sp>
      <p:sp>
        <p:nvSpPr>
          <p:cNvPr id="56" name="TextBox 55"/>
          <p:cNvSpPr txBox="1"/>
          <p:nvPr/>
        </p:nvSpPr>
        <p:spPr>
          <a:xfrm>
            <a:off x="548640" y="5815584"/>
            <a:ext cx="11064240" cy="320040"/>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Success: receipt.status is 1     No reload on chain change     Readable errors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Battle arena</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09</a:t>
            </a:r>
          </a:p>
        </p:txBody>
      </p:sp>
      <p:sp>
        <p:nvSpPr>
          <p:cNvPr id="7" name="Rounded Rectangle 6"/>
          <p:cNvSpPr/>
          <p:nvPr/>
        </p:nvSpPr>
        <p:spPr>
          <a:xfrm>
            <a:off x="548640" y="1609344"/>
            <a:ext cx="5431536" cy="3456432"/>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3"/>
          <a:srcRect l="-1576" r="84"/>
          <a:stretch/>
        </p:blipFill>
        <p:spPr>
          <a:xfrm>
            <a:off x="630936" y="1864870"/>
            <a:ext cx="5042652" cy="2625338"/>
          </a:xfrm>
          <a:prstGeom prst="rect">
            <a:avLst/>
          </a:prstGeom>
        </p:spPr>
      </p:pic>
      <p:sp>
        <p:nvSpPr>
          <p:cNvPr id="9" name="TextBox 8"/>
          <p:cNvSpPr txBox="1"/>
          <p:nvPr/>
        </p:nvSpPr>
        <p:spPr>
          <a:xfrm>
            <a:off x="630936" y="4791456"/>
            <a:ext cx="5266944"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Avenger battle / DEFEAT</a:t>
            </a:r>
          </a:p>
        </p:txBody>
      </p:sp>
      <p:sp>
        <p:nvSpPr>
          <p:cNvPr id="10" name="Rounded Rectangle 9"/>
          <p:cNvSpPr/>
          <p:nvPr/>
        </p:nvSpPr>
        <p:spPr>
          <a:xfrm>
            <a:off x="6208776" y="1609344"/>
            <a:ext cx="5431536" cy="3456432"/>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onfirmed PvP battle showing a victory result; user capture Screenshot 2026-10-18 at 5.37.41 PM.png"/>
          <p:cNvPicPr>
            <a:picLocks noChangeAspect="1"/>
          </p:cNvPicPr>
          <p:nvPr/>
        </p:nvPicPr>
        <p:blipFill>
          <a:blip r:embed="rId4"/>
          <a:srcRect t="1340" r="329" b="1000"/>
          <a:stretch/>
        </p:blipFill>
        <p:spPr>
          <a:xfrm>
            <a:off x="6291071" y="1763558"/>
            <a:ext cx="5186225" cy="2827962"/>
          </a:xfrm>
          <a:prstGeom prst="rect">
            <a:avLst/>
          </a:prstGeom>
        </p:spPr>
      </p:pic>
      <p:sp>
        <p:nvSpPr>
          <p:cNvPr id="12" name="TextBox 11"/>
          <p:cNvSpPr txBox="1"/>
          <p:nvPr/>
        </p:nvSpPr>
        <p:spPr>
          <a:xfrm>
            <a:off x="6291072" y="4791456"/>
            <a:ext cx="5266944"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Zombie PvP / VICTORY</a:t>
            </a:r>
          </a:p>
        </p:txBody>
      </p:sp>
      <p:sp>
        <p:nvSpPr>
          <p:cNvPr id="13" name="TextBox 12"/>
          <p:cNvSpPr txBox="1"/>
          <p:nvPr/>
        </p:nvSpPr>
        <p:spPr>
          <a:xfrm>
            <a:off x="731520" y="5276088"/>
            <a:ext cx="10607040" cy="32004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Fight Avengers or other owners’ zombies</a:t>
            </a:r>
          </a:p>
        </p:txBody>
      </p:sp>
      <p:sp>
        <p:nvSpPr>
          <p:cNvPr id="14" name="TextBox 13"/>
          <p:cNvSpPr txBox="1"/>
          <p:nvPr/>
        </p:nvSpPr>
        <p:spPr>
          <a:xfrm>
            <a:off x="731520" y="5568696"/>
            <a:ext cx="10607040" cy="32004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Read odds before signing</a:t>
            </a:r>
          </a:p>
        </p:txBody>
      </p:sp>
      <p:sp>
        <p:nvSpPr>
          <p:cNvPr id="15" name="TextBox 14"/>
          <p:cNvSpPr txBox="1"/>
          <p:nvPr/>
        </p:nvSpPr>
        <p:spPr>
          <a:xfrm>
            <a:off x="731520" y="5861303"/>
            <a:ext cx="10607040" cy="32004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Result comes from the on-chain event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Tested, not trusted</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10</a:t>
            </a:r>
          </a:p>
        </p:txBody>
      </p:sp>
      <p:sp>
        <p:nvSpPr>
          <p:cNvPr id="7" name="TextBox 6"/>
          <p:cNvSpPr txBox="1"/>
          <p:nvPr/>
        </p:nvSpPr>
        <p:spPr>
          <a:xfrm>
            <a:off x="548640" y="1700784"/>
            <a:ext cx="2834640" cy="1188720"/>
          </a:xfrm>
          <a:prstGeom prst="rect">
            <a:avLst/>
          </a:prstGeom>
          <a:noFill/>
        </p:spPr>
        <p:txBody>
          <a:bodyPr wrap="square" lIns="13716" tIns="0" rIns="13716" bIns="0">
            <a:spAutoFit/>
          </a:bodyPr>
          <a:lstStyle/>
          <a:p>
            <a:pPr>
              <a:spcAft>
                <a:spcPts val="300"/>
              </a:spcAft>
              <a:defRPr sz="7600" b="1">
                <a:solidFill>
                  <a:srgbClr val="39FF88"/>
                </a:solidFill>
                <a:latin typeface="Space Grotesk"/>
              </a:defRPr>
            </a:pPr>
            <a:r>
              <a:t>30</a:t>
            </a:r>
          </a:p>
        </p:txBody>
      </p:sp>
      <p:sp>
        <p:nvSpPr>
          <p:cNvPr id="8" name="TextBox 7"/>
          <p:cNvSpPr txBox="1"/>
          <p:nvPr/>
        </p:nvSpPr>
        <p:spPr>
          <a:xfrm>
            <a:off x="548640" y="3035808"/>
            <a:ext cx="2834640" cy="457200"/>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Truffle scenarios</a:t>
            </a:r>
          </a:p>
        </p:txBody>
      </p:sp>
      <p:sp>
        <p:nvSpPr>
          <p:cNvPr id="9" name="TextBox 8"/>
          <p:cNvSpPr txBox="1"/>
          <p:nvPr/>
        </p:nvSpPr>
        <p:spPr>
          <a:xfrm>
            <a:off x="548640" y="3630168"/>
            <a:ext cx="2834640" cy="73152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6 starter + 20 master + 4 Avenger</a:t>
            </a:r>
          </a:p>
        </p:txBody>
      </p:sp>
      <p:sp>
        <p:nvSpPr>
          <p:cNvPr id="10" name="TextBox 9"/>
          <p:cNvSpPr txBox="1"/>
          <p:nvPr/>
        </p:nvSpPr>
        <p:spPr>
          <a:xfrm>
            <a:off x="3611880" y="1700784"/>
            <a:ext cx="2834640" cy="1188720"/>
          </a:xfrm>
          <a:prstGeom prst="rect">
            <a:avLst/>
          </a:prstGeom>
          <a:noFill/>
        </p:spPr>
        <p:txBody>
          <a:bodyPr wrap="square" lIns="13716" tIns="0" rIns="13716" bIns="0">
            <a:spAutoFit/>
          </a:bodyPr>
          <a:lstStyle/>
          <a:p>
            <a:pPr>
              <a:spcAft>
                <a:spcPts val="300"/>
              </a:spcAft>
              <a:defRPr sz="7600" b="1">
                <a:solidFill>
                  <a:srgbClr val="39FF88"/>
                </a:solidFill>
                <a:latin typeface="Space Grotesk"/>
              </a:defRPr>
            </a:pPr>
            <a:r>
              <a:t>47</a:t>
            </a:r>
          </a:p>
        </p:txBody>
      </p:sp>
      <p:sp>
        <p:nvSpPr>
          <p:cNvPr id="11" name="TextBox 10"/>
          <p:cNvSpPr txBox="1"/>
          <p:nvPr/>
        </p:nvSpPr>
        <p:spPr>
          <a:xfrm>
            <a:off x="3611880" y="3035808"/>
            <a:ext cx="2834640" cy="457200"/>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Vitest unit tests</a:t>
            </a:r>
          </a:p>
        </p:txBody>
      </p:sp>
      <p:sp>
        <p:nvSpPr>
          <p:cNvPr id="12" name="TextBox 11"/>
          <p:cNvSpPr txBox="1"/>
          <p:nvPr/>
        </p:nvSpPr>
        <p:spPr>
          <a:xfrm>
            <a:off x="3611880" y="3630168"/>
            <a:ext cx="2834640" cy="73152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6 files</a:t>
            </a:r>
          </a:p>
        </p:txBody>
      </p:sp>
      <p:sp>
        <p:nvSpPr>
          <p:cNvPr id="13" name="Rounded Rectangle 12"/>
          <p:cNvSpPr/>
          <p:nvPr/>
        </p:nvSpPr>
        <p:spPr>
          <a:xfrm>
            <a:off x="6903720" y="1609344"/>
            <a:ext cx="4736592" cy="1920240"/>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Created zombie details with a creation confirmation notification; user capture Screenshot 2026-10-18 at 5.18.42 PM.png"/>
          <p:cNvPicPr>
            <a:picLocks noChangeAspect="1"/>
          </p:cNvPicPr>
          <p:nvPr/>
        </p:nvPicPr>
        <p:blipFill>
          <a:blip r:embed="rId3"/>
          <a:srcRect t="14000" r="25500" b="1000"/>
          <a:stretch>
            <a:fillRect/>
          </a:stretch>
        </p:blipFill>
        <p:spPr>
          <a:xfrm>
            <a:off x="8278648" y="1673352"/>
            <a:ext cx="1986734" cy="1472184"/>
          </a:xfrm>
          <a:prstGeom prst="rect">
            <a:avLst/>
          </a:prstGeom>
        </p:spPr>
      </p:pic>
      <p:sp>
        <p:nvSpPr>
          <p:cNvPr id="15" name="TextBox 14"/>
          <p:cNvSpPr txBox="1"/>
          <p:nvPr/>
        </p:nvSpPr>
        <p:spPr>
          <a:xfrm>
            <a:off x="6986016" y="3255264"/>
            <a:ext cx="4572000"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UI capture / creation confirmed</a:t>
            </a:r>
          </a:p>
        </p:txBody>
      </p:sp>
      <p:sp>
        <p:nvSpPr>
          <p:cNvPr id="16" name="Rounded Rectangle 15"/>
          <p:cNvSpPr/>
          <p:nvPr/>
        </p:nvSpPr>
        <p:spPr>
          <a:xfrm>
            <a:off x="6903720" y="3666744"/>
            <a:ext cx="4736592" cy="1920240"/>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Zombie detail after level up displaying level two; user capture Screenshot 2026-10-18 at 5.18.59 PM.png"/>
          <p:cNvPicPr>
            <a:picLocks noChangeAspect="1"/>
          </p:cNvPicPr>
          <p:nvPr/>
        </p:nvPicPr>
        <p:blipFill>
          <a:blip r:embed="rId4"/>
          <a:srcRect t="14000" r="25500" b="1000"/>
          <a:stretch>
            <a:fillRect/>
          </a:stretch>
        </p:blipFill>
        <p:spPr>
          <a:xfrm>
            <a:off x="8278648" y="3730752"/>
            <a:ext cx="1986734" cy="1472184"/>
          </a:xfrm>
          <a:prstGeom prst="rect">
            <a:avLst/>
          </a:prstGeom>
        </p:spPr>
      </p:pic>
      <p:sp>
        <p:nvSpPr>
          <p:cNvPr id="18" name="TextBox 17"/>
          <p:cNvSpPr txBox="1"/>
          <p:nvPr/>
        </p:nvSpPr>
        <p:spPr>
          <a:xfrm>
            <a:off x="6986016" y="5312664"/>
            <a:ext cx="4572000"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UI capture / level updated</a:t>
            </a:r>
          </a:p>
        </p:txBody>
      </p:sp>
      <p:sp>
        <p:nvSpPr>
          <p:cNvPr id="19" name="TextBox 18"/>
          <p:cNvSpPr txBox="1"/>
          <p:nvPr/>
        </p:nvSpPr>
        <p:spPr>
          <a:xfrm>
            <a:off x="731520" y="4956048"/>
            <a:ext cx="5760720" cy="109728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Battle tests recompute the roll</a:t>
            </a:r>
          </a:p>
          <a:p>
            <a:pPr>
              <a:spcAft>
                <a:spcPts val="300"/>
              </a:spcAft>
              <a:defRPr sz="1800" b="0">
                <a:solidFill>
                  <a:srgbClr val="E8ECF1"/>
                </a:solidFill>
                <a:latin typeface="Inter"/>
              </a:defRPr>
            </a:pPr>
            <a:r>
              <a:t>Revert reasons have assertions</a:t>
            </a:r>
          </a:p>
          <a:p>
            <a:pPr>
              <a:spcAft>
                <a:spcPts val="300"/>
              </a:spcAft>
              <a:defRPr sz="1800" b="0">
                <a:solidFill>
                  <a:srgbClr val="E8ECF1"/>
                </a:solidFill>
                <a:latin typeface="Inter"/>
              </a:defRPr>
            </a:pPr>
            <a:r>
              <a:t>DNA preview matches on-chain DNA</a:t>
            </a:r>
          </a:p>
        </p:txBody>
      </p:sp>
      <p:sp>
        <p:nvSpPr>
          <p:cNvPr id="20" name="TextBox 19"/>
          <p:cNvSpPr txBox="1"/>
          <p:nvPr/>
        </p:nvSpPr>
        <p:spPr>
          <a:xfrm>
            <a:off x="6903720" y="5815584"/>
            <a:ext cx="4736592" cy="320040"/>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Counts from project docs. Images show UI outcomes.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One command</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11</a:t>
            </a:r>
          </a:p>
        </p:txBody>
      </p:sp>
      <p:sp>
        <p:nvSpPr>
          <p:cNvPr id="7" name="Rounded Rectangle 6"/>
          <p:cNvSpPr/>
          <p:nvPr/>
        </p:nvSpPr>
        <p:spPr>
          <a:xfrm>
            <a:off x="548640" y="1609344"/>
            <a:ext cx="6858000" cy="4462272"/>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901952"/>
            <a:ext cx="3017520" cy="320040"/>
          </a:xfrm>
          <a:prstGeom prst="rect">
            <a:avLst/>
          </a:prstGeom>
          <a:noFill/>
        </p:spPr>
        <p:txBody>
          <a:bodyPr wrap="square" lIns="13716" tIns="0" rIns="13716" bIns="0">
            <a:spAutoFit/>
          </a:bodyPr>
          <a:lstStyle/>
          <a:p>
            <a:pPr>
              <a:spcAft>
                <a:spcPts val="300"/>
              </a:spcAft>
              <a:defRPr sz="1800" b="0">
                <a:solidFill>
                  <a:srgbClr val="39FF88"/>
                </a:solidFill>
                <a:latin typeface="Menlo"/>
              </a:defRPr>
            </a:pPr>
            <a:r>
              <a:t>npm run setup</a:t>
            </a:r>
          </a:p>
        </p:txBody>
      </p:sp>
      <p:sp>
        <p:nvSpPr>
          <p:cNvPr id="9" name="TextBox 8"/>
          <p:cNvSpPr txBox="1"/>
          <p:nvPr/>
        </p:nvSpPr>
        <p:spPr>
          <a:xfrm>
            <a:off x="3858768" y="1901952"/>
            <a:ext cx="3273552" cy="36576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Install and compile</a:t>
            </a:r>
          </a:p>
        </p:txBody>
      </p:sp>
      <p:sp>
        <p:nvSpPr>
          <p:cNvPr id="10" name="TextBox 9"/>
          <p:cNvSpPr txBox="1"/>
          <p:nvPr/>
        </p:nvSpPr>
        <p:spPr>
          <a:xfrm>
            <a:off x="777240" y="2441448"/>
            <a:ext cx="3017520" cy="320040"/>
          </a:xfrm>
          <a:prstGeom prst="rect">
            <a:avLst/>
          </a:prstGeom>
          <a:noFill/>
        </p:spPr>
        <p:txBody>
          <a:bodyPr wrap="square" lIns="13716" tIns="0" rIns="13716" bIns="0">
            <a:spAutoFit/>
          </a:bodyPr>
          <a:lstStyle/>
          <a:p>
            <a:pPr>
              <a:spcAft>
                <a:spcPts val="300"/>
              </a:spcAft>
              <a:defRPr sz="1800" b="0">
                <a:solidFill>
                  <a:srgbClr val="39FF88"/>
                </a:solidFill>
                <a:latin typeface="Menlo"/>
              </a:defRPr>
            </a:pPr>
            <a:r>
              <a:t>npm run demo</a:t>
            </a:r>
          </a:p>
        </p:txBody>
      </p:sp>
      <p:sp>
        <p:nvSpPr>
          <p:cNvPr id="11" name="TextBox 10"/>
          <p:cNvSpPr txBox="1"/>
          <p:nvPr/>
        </p:nvSpPr>
        <p:spPr>
          <a:xfrm>
            <a:off x="3858768" y="2441448"/>
            <a:ext cx="3273552" cy="36576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Start, deploy, seed, check, serve</a:t>
            </a:r>
          </a:p>
        </p:txBody>
      </p:sp>
      <p:sp>
        <p:nvSpPr>
          <p:cNvPr id="12" name="TextBox 11"/>
          <p:cNvSpPr txBox="1"/>
          <p:nvPr/>
        </p:nvSpPr>
        <p:spPr>
          <a:xfrm>
            <a:off x="777240" y="2980944"/>
            <a:ext cx="3017520" cy="320040"/>
          </a:xfrm>
          <a:prstGeom prst="rect">
            <a:avLst/>
          </a:prstGeom>
          <a:noFill/>
        </p:spPr>
        <p:txBody>
          <a:bodyPr wrap="square" lIns="13716" tIns="0" rIns="13716" bIns="0">
            <a:spAutoFit/>
          </a:bodyPr>
          <a:lstStyle/>
          <a:p>
            <a:pPr>
              <a:spcAft>
                <a:spcPts val="300"/>
              </a:spcAft>
              <a:defRPr sz="1800" b="0">
                <a:solidFill>
                  <a:srgbClr val="39FF88"/>
                </a:solidFill>
                <a:latin typeface="Menlo"/>
              </a:defRPr>
            </a:pPr>
            <a:r>
              <a:t>npm run reset</a:t>
            </a:r>
          </a:p>
        </p:txBody>
      </p:sp>
      <p:sp>
        <p:nvSpPr>
          <p:cNvPr id="13" name="TextBox 12"/>
          <p:cNvSpPr txBox="1"/>
          <p:nvPr/>
        </p:nvSpPr>
        <p:spPr>
          <a:xfrm>
            <a:off x="3858768" y="2980944"/>
            <a:ext cx="3273552" cy="36576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Fresh chain state</a:t>
            </a:r>
          </a:p>
        </p:txBody>
      </p:sp>
      <p:sp>
        <p:nvSpPr>
          <p:cNvPr id="14" name="TextBox 13"/>
          <p:cNvSpPr txBox="1"/>
          <p:nvPr/>
        </p:nvSpPr>
        <p:spPr>
          <a:xfrm>
            <a:off x="777240" y="3520440"/>
            <a:ext cx="3017520" cy="320040"/>
          </a:xfrm>
          <a:prstGeom prst="rect">
            <a:avLst/>
          </a:prstGeom>
          <a:noFill/>
        </p:spPr>
        <p:txBody>
          <a:bodyPr wrap="square" lIns="13716" tIns="0" rIns="13716" bIns="0">
            <a:spAutoFit/>
          </a:bodyPr>
          <a:lstStyle/>
          <a:p>
            <a:pPr>
              <a:spcAft>
                <a:spcPts val="300"/>
              </a:spcAft>
              <a:defRPr sz="1800" b="0">
                <a:solidFill>
                  <a:srgbClr val="39FF88"/>
                </a:solidFill>
                <a:latin typeface="Menlo"/>
              </a:defRPr>
            </a:pPr>
            <a:r>
              <a:t>npm run snapshot</a:t>
            </a:r>
          </a:p>
        </p:txBody>
      </p:sp>
      <p:sp>
        <p:nvSpPr>
          <p:cNvPr id="15" name="TextBox 14"/>
          <p:cNvSpPr txBox="1"/>
          <p:nvPr/>
        </p:nvSpPr>
        <p:spPr>
          <a:xfrm>
            <a:off x="3858768" y="3520440"/>
            <a:ext cx="3273552" cy="36576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Save golden state</a:t>
            </a:r>
          </a:p>
        </p:txBody>
      </p:sp>
      <p:sp>
        <p:nvSpPr>
          <p:cNvPr id="16" name="TextBox 15"/>
          <p:cNvSpPr txBox="1"/>
          <p:nvPr/>
        </p:nvSpPr>
        <p:spPr>
          <a:xfrm>
            <a:off x="777240" y="4059935"/>
            <a:ext cx="3017520" cy="320040"/>
          </a:xfrm>
          <a:prstGeom prst="rect">
            <a:avLst/>
          </a:prstGeom>
          <a:noFill/>
        </p:spPr>
        <p:txBody>
          <a:bodyPr wrap="square" lIns="13716" tIns="0" rIns="13716" bIns="0">
            <a:spAutoFit/>
          </a:bodyPr>
          <a:lstStyle/>
          <a:p>
            <a:pPr>
              <a:spcAft>
                <a:spcPts val="300"/>
              </a:spcAft>
              <a:defRPr sz="1800" b="0">
                <a:solidFill>
                  <a:srgbClr val="39FF88"/>
                </a:solidFill>
                <a:latin typeface="Menlo"/>
              </a:defRPr>
            </a:pPr>
            <a:r>
              <a:t>npm run restore</a:t>
            </a:r>
          </a:p>
        </p:txBody>
      </p:sp>
      <p:sp>
        <p:nvSpPr>
          <p:cNvPr id="17" name="TextBox 16"/>
          <p:cNvSpPr txBox="1"/>
          <p:nvPr/>
        </p:nvSpPr>
        <p:spPr>
          <a:xfrm>
            <a:off x="3858768" y="4059935"/>
            <a:ext cx="3273552" cy="36576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Return to saved state</a:t>
            </a:r>
          </a:p>
        </p:txBody>
      </p:sp>
      <p:sp>
        <p:nvSpPr>
          <p:cNvPr id="18" name="TextBox 17"/>
          <p:cNvSpPr txBox="1"/>
          <p:nvPr/>
        </p:nvSpPr>
        <p:spPr>
          <a:xfrm>
            <a:off x="777240" y="4599431"/>
            <a:ext cx="3017520" cy="320040"/>
          </a:xfrm>
          <a:prstGeom prst="rect">
            <a:avLst/>
          </a:prstGeom>
          <a:noFill/>
        </p:spPr>
        <p:txBody>
          <a:bodyPr wrap="square" lIns="13716" tIns="0" rIns="13716" bIns="0">
            <a:spAutoFit/>
          </a:bodyPr>
          <a:lstStyle/>
          <a:p>
            <a:pPr>
              <a:spcAft>
                <a:spcPts val="300"/>
              </a:spcAft>
              <a:defRPr sz="1800" b="0">
                <a:solidFill>
                  <a:srgbClr val="39FF88"/>
                </a:solidFill>
                <a:latin typeface="Menlo"/>
              </a:defRPr>
            </a:pPr>
            <a:r>
              <a:t>npm run check</a:t>
            </a:r>
          </a:p>
        </p:txBody>
      </p:sp>
      <p:sp>
        <p:nvSpPr>
          <p:cNvPr id="19" name="TextBox 18"/>
          <p:cNvSpPr txBox="1"/>
          <p:nvPr/>
        </p:nvSpPr>
        <p:spPr>
          <a:xfrm>
            <a:off x="3858768" y="4599431"/>
            <a:ext cx="3273552" cy="36576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Verify chain and wiring</a:t>
            </a:r>
          </a:p>
        </p:txBody>
      </p:sp>
      <p:sp>
        <p:nvSpPr>
          <p:cNvPr id="20" name="TextBox 19"/>
          <p:cNvSpPr txBox="1"/>
          <p:nvPr/>
        </p:nvSpPr>
        <p:spPr>
          <a:xfrm>
            <a:off x="777240" y="5138928"/>
            <a:ext cx="3017520" cy="320040"/>
          </a:xfrm>
          <a:prstGeom prst="rect">
            <a:avLst/>
          </a:prstGeom>
          <a:noFill/>
        </p:spPr>
        <p:txBody>
          <a:bodyPr wrap="square" lIns="13716" tIns="0" rIns="13716" bIns="0">
            <a:spAutoFit/>
          </a:bodyPr>
          <a:lstStyle/>
          <a:p>
            <a:pPr>
              <a:spcAft>
                <a:spcPts val="300"/>
              </a:spcAft>
              <a:defRPr sz="1800" b="0">
                <a:solidFill>
                  <a:srgbClr val="39FF88"/>
                </a:solidFill>
                <a:latin typeface="Menlo"/>
              </a:defRPr>
            </a:pPr>
            <a:r>
              <a:t>npm test</a:t>
            </a:r>
          </a:p>
        </p:txBody>
      </p:sp>
      <p:sp>
        <p:nvSpPr>
          <p:cNvPr id="21" name="TextBox 20"/>
          <p:cNvSpPr txBox="1"/>
          <p:nvPr/>
        </p:nvSpPr>
        <p:spPr>
          <a:xfrm>
            <a:off x="3858768" y="5138928"/>
            <a:ext cx="3273552" cy="365760"/>
          </a:xfrm>
          <a:prstGeom prst="rect">
            <a:avLst/>
          </a:prstGeom>
          <a:noFill/>
        </p:spPr>
        <p:txBody>
          <a:bodyPr wrap="square" lIns="13716" tIns="0" rIns="13716" bIns="0">
            <a:spAutoFit/>
          </a:bodyPr>
          <a:lstStyle/>
          <a:p>
            <a:pPr>
              <a:spcAft>
                <a:spcPts val="300"/>
              </a:spcAft>
              <a:defRPr sz="1600" b="0">
                <a:solidFill>
                  <a:srgbClr val="9AA4B2"/>
                </a:solidFill>
                <a:latin typeface="Inter"/>
              </a:defRPr>
            </a:pPr>
            <a:r>
              <a:t>Run contract tests</a:t>
            </a:r>
          </a:p>
        </p:txBody>
      </p:sp>
      <p:sp>
        <p:nvSpPr>
          <p:cNvPr id="22" name="TextBox 21"/>
          <p:cNvSpPr txBox="1"/>
          <p:nvPr/>
        </p:nvSpPr>
        <p:spPr>
          <a:xfrm>
            <a:off x="7863840" y="1965960"/>
            <a:ext cx="3566160" cy="822960"/>
          </a:xfrm>
          <a:prstGeom prst="rect">
            <a:avLst/>
          </a:prstGeom>
          <a:noFill/>
        </p:spPr>
        <p:txBody>
          <a:bodyPr wrap="square" lIns="13716" tIns="0" rIns="13716" bIns="0">
            <a:spAutoFit/>
          </a:bodyPr>
          <a:lstStyle/>
          <a:p>
            <a:pPr>
              <a:spcAft>
                <a:spcPts val="300"/>
              </a:spcAft>
              <a:defRPr sz="2600" b="1">
                <a:solidFill>
                  <a:srgbClr val="E8ECF1"/>
                </a:solidFill>
                <a:latin typeface="Space Grotesk"/>
              </a:defRPr>
            </a:pPr>
            <a:r>
              <a:t>Repeatable demo state</a:t>
            </a:r>
          </a:p>
        </p:txBody>
      </p:sp>
      <p:sp>
        <p:nvSpPr>
          <p:cNvPr id="23" name="TextBox 22"/>
          <p:cNvSpPr txBox="1"/>
          <p:nvPr/>
        </p:nvSpPr>
        <p:spPr>
          <a:xfrm>
            <a:off x="7863840" y="3063240"/>
            <a:ext cx="3520440" cy="1005840"/>
          </a:xfrm>
          <a:prstGeom prst="rect">
            <a:avLst/>
          </a:prstGeom>
          <a:noFill/>
        </p:spPr>
        <p:txBody>
          <a:bodyPr wrap="square" lIns="13716" tIns="0" rIns="13716" bIns="0">
            <a:spAutoFit/>
          </a:bodyPr>
          <a:lstStyle/>
          <a:p>
            <a:pPr>
              <a:spcAft>
                <a:spcPts val="300"/>
              </a:spcAft>
              <a:defRPr sz="2000" b="0">
                <a:solidFill>
                  <a:srgbClr val="E8ECF1"/>
                </a:solidFill>
                <a:latin typeface="Inter"/>
              </a:defRPr>
            </a:pPr>
            <a:r>
              <a:t>Golden snapshot restores</a:t>
            </a:r>
          </a:p>
          <a:p>
            <a:pPr>
              <a:spcAft>
                <a:spcPts val="300"/>
              </a:spcAft>
              <a:defRPr sz="2000" b="0">
                <a:solidFill>
                  <a:srgbClr val="E8ECF1"/>
                </a:solidFill>
                <a:latin typeface="Inter"/>
              </a:defRPr>
            </a:pPr>
            <a:r>
              <a:t>the saved chain.</a:t>
            </a:r>
          </a:p>
        </p:txBody>
      </p:sp>
      <p:sp>
        <p:nvSpPr>
          <p:cNvPr id="24" name="TextBox 23"/>
          <p:cNvSpPr txBox="1"/>
          <p:nvPr/>
        </p:nvSpPr>
        <p:spPr>
          <a:xfrm>
            <a:off x="7863840" y="4572000"/>
            <a:ext cx="3520440" cy="91440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Stop the chain before</a:t>
            </a:r>
          </a:p>
          <a:p>
            <a:pPr>
              <a:spcAft>
                <a:spcPts val="300"/>
              </a:spcAft>
              <a:defRPr sz="1800" b="0">
                <a:solidFill>
                  <a:srgbClr val="9AA4B2"/>
                </a:solidFill>
                <a:latin typeface="Inter"/>
              </a:defRPr>
            </a:pPr>
            <a:r>
              <a:t>reset, snapshot or restore.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Rubric map</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12</a:t>
            </a:r>
          </a:p>
        </p:txBody>
      </p:sp>
      <p:sp>
        <p:nvSpPr>
          <p:cNvPr id="7" name="TextBox 6"/>
          <p:cNvSpPr txBox="1"/>
          <p:nvPr/>
        </p:nvSpPr>
        <p:spPr>
          <a:xfrm>
            <a:off x="758952" y="1243584"/>
            <a:ext cx="10698480" cy="320040"/>
          </a:xfrm>
          <a:prstGeom prst="rect">
            <a:avLst/>
          </a:prstGeom>
          <a:noFill/>
        </p:spPr>
        <p:txBody>
          <a:bodyPr wrap="square" lIns="13716" tIns="0" rIns="13716" bIns="0">
            <a:spAutoFit/>
          </a:bodyPr>
          <a:lstStyle/>
          <a:p>
            <a:pPr>
              <a:spcAft>
                <a:spcPts val="300"/>
              </a:spcAft>
              <a:defRPr sz="1800" b="0">
                <a:solidFill>
                  <a:srgbClr val="39FF88"/>
                </a:solidFill>
                <a:latin typeface="Inter"/>
              </a:defRPr>
            </a:pPr>
            <a:r>
              <a:t>Credit depends on demonstrating each improvement live</a:t>
            </a:r>
          </a:p>
        </p:txBody>
      </p:sp>
      <p:sp>
        <p:nvSpPr>
          <p:cNvPr id="8" name="Rounded Rectangle 7"/>
          <p:cNvSpPr/>
          <p:nvPr/>
        </p:nvSpPr>
        <p:spPr>
          <a:xfrm>
            <a:off x="548640" y="1792224"/>
            <a:ext cx="2953512" cy="3145536"/>
          </a:xfrm>
          <a:prstGeom prst="roundRect">
            <a:avLst>
              <a:gd name="adj" fmla="val 8000"/>
            </a:avLst>
          </a:prstGeom>
          <a:solidFill>
            <a:srgbClr val="12151A">
              <a:alpha val="77000"/>
            </a:srgbClr>
          </a:solidFill>
          <a:ln w="9525">
            <a:solidFill>
              <a:srgbClr val="353D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Connected second-account Army showing Grimjaw in its collection; user capture Screenshot 2026-10-18 at 5.14.34 PM.png"/>
          <p:cNvPicPr>
            <a:picLocks noChangeAspect="1"/>
          </p:cNvPicPr>
          <p:nvPr/>
        </p:nvPicPr>
        <p:blipFill>
          <a:blip r:embed="rId3"/>
          <a:srcRect t="14000" r="25500" b="1000"/>
          <a:stretch>
            <a:fillRect/>
          </a:stretch>
        </p:blipFill>
        <p:spPr>
          <a:xfrm>
            <a:off x="621792" y="2164891"/>
            <a:ext cx="2807208" cy="2080160"/>
          </a:xfrm>
          <a:prstGeom prst="rect">
            <a:avLst/>
          </a:prstGeom>
        </p:spPr>
      </p:pic>
      <p:sp>
        <p:nvSpPr>
          <p:cNvPr id="10" name="TextBox 9"/>
          <p:cNvSpPr txBox="1"/>
          <p:nvPr/>
        </p:nvSpPr>
        <p:spPr>
          <a:xfrm>
            <a:off x="630936" y="4663440"/>
            <a:ext cx="2788920" cy="228600"/>
          </a:xfrm>
          <a:prstGeom prst="rect">
            <a:avLst/>
          </a:prstGeom>
          <a:noFill/>
        </p:spPr>
        <p:txBody>
          <a:bodyPr wrap="square" lIns="13716" tIns="0" rIns="13716" bIns="0">
            <a:spAutoFit/>
          </a:bodyPr>
          <a:lstStyle/>
          <a:p>
            <a:pPr>
              <a:spcAft>
                <a:spcPts val="300"/>
              </a:spcAft>
              <a:defRPr sz="1200" b="0">
                <a:solidFill>
                  <a:srgbClr val="9AA4B2"/>
                </a:solidFill>
                <a:latin typeface="Menlo"/>
              </a:defRPr>
            </a:pPr>
            <a:r>
              <a:t>Receiving wallet / Army</a:t>
            </a:r>
          </a:p>
        </p:txBody>
      </p:sp>
      <p:sp>
        <p:nvSpPr>
          <p:cNvPr id="11" name="TextBox 10"/>
          <p:cNvSpPr txBox="1"/>
          <p:nvPr/>
        </p:nvSpPr>
        <p:spPr>
          <a:xfrm>
            <a:off x="594360" y="5166360"/>
            <a:ext cx="2862072" cy="77724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Starter on Ganache</a:t>
            </a:r>
          </a:p>
          <a:p>
            <a:pPr>
              <a:spcAft>
                <a:spcPts val="300"/>
              </a:spcAft>
              <a:defRPr sz="1800" b="0">
                <a:solidFill>
                  <a:srgbClr val="E8ECF1"/>
                </a:solidFill>
                <a:latin typeface="Inter"/>
              </a:defRPr>
            </a:pPr>
            <a:r>
              <a:t>24 pts baseline</a:t>
            </a:r>
          </a:p>
        </p:txBody>
      </p:sp>
      <p:sp>
        <p:nvSpPr>
          <p:cNvPr id="12" name="TextBox 11"/>
          <p:cNvSpPr txBox="1"/>
          <p:nvPr/>
        </p:nvSpPr>
        <p:spPr>
          <a:xfrm>
            <a:off x="3767328" y="1810512"/>
            <a:ext cx="4206240" cy="274320"/>
          </a:xfrm>
          <a:prstGeom prst="rect">
            <a:avLst/>
          </a:prstGeom>
          <a:noFill/>
        </p:spPr>
        <p:txBody>
          <a:bodyPr wrap="square" lIns="13716" tIns="0" rIns="13716" bIns="0">
            <a:spAutoFit/>
          </a:bodyPr>
          <a:lstStyle/>
          <a:p>
            <a:pPr>
              <a:spcAft>
                <a:spcPts val="300"/>
              </a:spcAft>
              <a:defRPr sz="1200" b="1">
                <a:solidFill>
                  <a:srgbClr val="9AA4B2"/>
                </a:solidFill>
                <a:latin typeface="Inter"/>
              </a:defRPr>
            </a:pPr>
            <a:r>
              <a:t>IMPROVEMENT (+1 PT EACH)</a:t>
            </a:r>
          </a:p>
        </p:txBody>
      </p:sp>
      <p:sp>
        <p:nvSpPr>
          <p:cNvPr id="13" name="TextBox 12"/>
          <p:cNvSpPr txBox="1"/>
          <p:nvPr/>
        </p:nvSpPr>
        <p:spPr>
          <a:xfrm>
            <a:off x="8138160" y="1810512"/>
            <a:ext cx="3474720" cy="274320"/>
          </a:xfrm>
          <a:prstGeom prst="rect">
            <a:avLst/>
          </a:prstGeom>
          <a:noFill/>
        </p:spPr>
        <p:txBody>
          <a:bodyPr wrap="square" lIns="13716" tIns="0" rIns="13716" bIns="0">
            <a:spAutoFit/>
          </a:bodyPr>
          <a:lstStyle/>
          <a:p>
            <a:pPr>
              <a:spcAft>
                <a:spcPts val="300"/>
              </a:spcAft>
              <a:defRPr sz="1200" b="1">
                <a:solidFill>
                  <a:srgbClr val="9AA4B2"/>
                </a:solidFill>
                <a:latin typeface="Inter"/>
              </a:defRPr>
            </a:pPr>
            <a:r>
              <a:t>LIVE PROOF</a:t>
            </a:r>
          </a:p>
        </p:txBody>
      </p:sp>
      <p:sp>
        <p:nvSpPr>
          <p:cNvPr id="14" name="TextBox 13"/>
          <p:cNvSpPr txBox="1"/>
          <p:nvPr/>
        </p:nvSpPr>
        <p:spPr>
          <a:xfrm>
            <a:off x="3767328" y="2313432"/>
            <a:ext cx="4087368" cy="36576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React frontend</a:t>
            </a:r>
          </a:p>
        </p:txBody>
      </p:sp>
      <p:sp>
        <p:nvSpPr>
          <p:cNvPr id="15" name="TextBox 14"/>
          <p:cNvSpPr txBox="1"/>
          <p:nvPr/>
        </p:nvSpPr>
        <p:spPr>
          <a:xfrm>
            <a:off x="8138160" y="2313432"/>
            <a:ext cx="3502152" cy="40233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Tour pages and responsive Gallery</a:t>
            </a:r>
          </a:p>
        </p:txBody>
      </p:sp>
      <p:cxnSp>
        <p:nvCxnSpPr>
          <p:cNvPr id="16" name="Connector 15"/>
          <p:cNvCxnSpPr/>
          <p:nvPr/>
        </p:nvCxnSpPr>
        <p:spPr>
          <a:xfrm>
            <a:off x="3767328" y="2734056"/>
            <a:ext cx="7872984"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767328" y="2798063"/>
            <a:ext cx="4087368" cy="36576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Wallet + network</a:t>
            </a:r>
          </a:p>
        </p:txBody>
      </p:sp>
      <p:sp>
        <p:nvSpPr>
          <p:cNvPr id="18" name="TextBox 17"/>
          <p:cNvSpPr txBox="1"/>
          <p:nvPr/>
        </p:nvSpPr>
        <p:spPr>
          <a:xfrm>
            <a:off x="8138160" y="2798063"/>
            <a:ext cx="3502152" cy="40233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Connect, status and diagnostics</a:t>
            </a:r>
          </a:p>
        </p:txBody>
      </p:sp>
      <p:cxnSp>
        <p:nvCxnSpPr>
          <p:cNvPr id="19" name="Connector 18"/>
          <p:cNvCxnSpPr/>
          <p:nvPr/>
        </p:nvCxnSpPr>
        <p:spPr>
          <a:xfrm>
            <a:off x="3767328" y="3218687"/>
            <a:ext cx="7872984"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767328" y="3282696"/>
            <a:ext cx="4087368" cy="36576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Factory + Army</a:t>
            </a:r>
          </a:p>
        </p:txBody>
      </p:sp>
      <p:sp>
        <p:nvSpPr>
          <p:cNvPr id="21" name="TextBox 20"/>
          <p:cNvSpPr txBox="1"/>
          <p:nvPr/>
        </p:nvSpPr>
        <p:spPr>
          <a:xfrm>
            <a:off x="8138160" y="3282696"/>
            <a:ext cx="3502152" cy="40233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Create, compare DNA, filter Army</a:t>
            </a:r>
          </a:p>
        </p:txBody>
      </p:sp>
      <p:cxnSp>
        <p:nvCxnSpPr>
          <p:cNvPr id="22" name="Connector 21"/>
          <p:cNvCxnSpPr/>
          <p:nvPr/>
        </p:nvCxnSpPr>
        <p:spPr>
          <a:xfrm>
            <a:off x="3767328" y="3703320"/>
            <a:ext cx="7872984"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767328" y="3767328"/>
            <a:ext cx="4087368" cy="36576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Ownership transfer</a:t>
            </a:r>
          </a:p>
        </p:txBody>
      </p:sp>
      <p:sp>
        <p:nvSpPr>
          <p:cNvPr id="24" name="TextBox 23"/>
          <p:cNvSpPr txBox="1"/>
          <p:nvPr/>
        </p:nvSpPr>
        <p:spPr>
          <a:xfrm>
            <a:off x="8138160" y="3767328"/>
            <a:ext cx="3502152" cy="40233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Transfer, switch wallet, verify owner</a:t>
            </a:r>
          </a:p>
        </p:txBody>
      </p:sp>
      <p:cxnSp>
        <p:nvCxnSpPr>
          <p:cNvPr id="25" name="Connector 24"/>
          <p:cNvCxnSpPr/>
          <p:nvPr/>
        </p:nvCxnSpPr>
        <p:spPr>
          <a:xfrm>
            <a:off x="3767328" y="4187952"/>
            <a:ext cx="7872984"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767328" y="4251960"/>
            <a:ext cx="4087368" cy="36576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Feeding / mutation</a:t>
            </a:r>
          </a:p>
        </p:txBody>
      </p:sp>
      <p:sp>
        <p:nvSpPr>
          <p:cNvPr id="27" name="TextBox 26"/>
          <p:cNvSpPr txBox="1"/>
          <p:nvPr/>
        </p:nvSpPr>
        <p:spPr>
          <a:xfrm>
            <a:off x="8138160" y="4251960"/>
            <a:ext cx="3502152" cy="40233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Infect, compare DNA, hero ends 99</a:t>
            </a:r>
          </a:p>
        </p:txBody>
      </p:sp>
      <p:cxnSp>
        <p:nvCxnSpPr>
          <p:cNvPr id="28" name="Connector 27"/>
          <p:cNvCxnSpPr/>
          <p:nvPr/>
        </p:nvCxnSpPr>
        <p:spPr>
          <a:xfrm>
            <a:off x="3767328" y="4672584"/>
            <a:ext cx="7872984"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767328" y="4736592"/>
            <a:ext cx="4087368" cy="365760"/>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Battle arena</a:t>
            </a:r>
          </a:p>
        </p:txBody>
      </p:sp>
      <p:sp>
        <p:nvSpPr>
          <p:cNvPr id="30" name="TextBox 29"/>
          <p:cNvSpPr txBox="1"/>
          <p:nvPr/>
        </p:nvSpPr>
        <p:spPr>
          <a:xfrm>
            <a:off x="8138160" y="4736592"/>
            <a:ext cx="3502152" cy="402336"/>
          </a:xfrm>
          <a:prstGeom prst="rect">
            <a:avLst/>
          </a:prstGeom>
          <a:noFill/>
        </p:spPr>
        <p:txBody>
          <a:bodyPr wrap="square" lIns="13716" tIns="0" rIns="13716" bIns="0">
            <a:spAutoFit/>
          </a:bodyPr>
          <a:lstStyle/>
          <a:p>
            <a:pPr>
              <a:spcAft>
                <a:spcPts val="300"/>
              </a:spcAft>
              <a:defRPr sz="1600" b="0">
                <a:solidFill>
                  <a:srgbClr val="E8ECF1"/>
                </a:solidFill>
                <a:latin typeface="Inter"/>
              </a:defRPr>
            </a:pPr>
            <a:r>
              <a:t>Odds, fight, receipt event result</a:t>
            </a:r>
          </a:p>
        </p:txBody>
      </p:sp>
      <p:cxnSp>
        <p:nvCxnSpPr>
          <p:cNvPr id="31" name="Connector 30"/>
          <p:cNvCxnSpPr/>
          <p:nvPr/>
        </p:nvCxnSpPr>
        <p:spPr>
          <a:xfrm>
            <a:off x="3767328" y="5157216"/>
            <a:ext cx="7872984"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767328" y="5440680"/>
            <a:ext cx="7872983" cy="548640"/>
          </a:xfrm>
          <a:prstGeom prst="rect">
            <a:avLst/>
          </a:prstGeom>
          <a:noFill/>
        </p:spPr>
        <p:txBody>
          <a:bodyPr wrap="square" lIns="13716" tIns="0" rIns="13716" bIns="0">
            <a:spAutoFit/>
          </a:bodyPr>
          <a:lstStyle/>
          <a:p>
            <a:pPr>
              <a:spcAft>
                <a:spcPts val="300"/>
              </a:spcAft>
              <a:defRPr sz="1400" b="0">
                <a:solidFill>
                  <a:srgbClr val="9AA4B2"/>
                </a:solidFill>
                <a:latin typeface="Inter"/>
              </a:defRPr>
            </a:pPr>
            <a:r>
              <a:t>Backups: Activity, diagnostics, bug fixes + 30 tests, demo/reset</a:t>
            </a:r>
          </a:p>
        </p:txBody>
      </p:sp>
      <p:sp>
        <p:nvSpPr>
          <p:cNvPr id="33" name="TextBox 32"/>
          <p:cNvSpPr txBox="1"/>
          <p:nvPr/>
        </p:nvSpPr>
        <p:spPr>
          <a:xfrm>
            <a:off x="3767328" y="5980176"/>
            <a:ext cx="7872983" cy="274320"/>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Subjective team performance, compared with peers. No score claimed.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Honest limits, real lessons</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13</a:t>
            </a:r>
          </a:p>
        </p:txBody>
      </p:sp>
      <p:sp>
        <p:nvSpPr>
          <p:cNvPr id="7" name="Rounded Rectangle 6"/>
          <p:cNvSpPr/>
          <p:nvPr/>
        </p:nvSpPr>
        <p:spPr>
          <a:xfrm>
            <a:off x="548640" y="1609344"/>
            <a:ext cx="5486400" cy="4480560"/>
          </a:xfrm>
          <a:prstGeom prst="roundRect">
            <a:avLst>
              <a:gd name="adj" fmla="val 8000"/>
            </a:avLst>
          </a:prstGeom>
          <a:solidFill>
            <a:srgbClr val="12151A">
              <a:alpha val="77000"/>
            </a:srgbClr>
          </a:solidFill>
          <a:ln w="9525">
            <a:solidFill>
              <a:srgbClr val="FF5C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263640" y="1609344"/>
            <a:ext cx="5376672" cy="448056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847088"/>
            <a:ext cx="5029200" cy="320040"/>
          </a:xfrm>
          <a:prstGeom prst="rect">
            <a:avLst/>
          </a:prstGeom>
          <a:noFill/>
        </p:spPr>
        <p:txBody>
          <a:bodyPr wrap="square" lIns="13716" tIns="0" rIns="13716" bIns="0">
            <a:spAutoFit/>
          </a:bodyPr>
          <a:lstStyle/>
          <a:p>
            <a:pPr>
              <a:spcAft>
                <a:spcPts val="300"/>
              </a:spcAft>
              <a:defRPr sz="1200" b="1">
                <a:solidFill>
                  <a:srgbClr val="9AA4B2"/>
                </a:solidFill>
                <a:latin typeface="Inter"/>
              </a:defRPr>
            </a:pPr>
            <a:r>
              <a:t>KNOWN LIMITATIONS</a:t>
            </a:r>
          </a:p>
        </p:txBody>
      </p:sp>
      <p:sp>
        <p:nvSpPr>
          <p:cNvPr id="10" name="TextBox 9"/>
          <p:cNvSpPr txBox="1"/>
          <p:nvPr/>
        </p:nvSpPr>
        <p:spPr>
          <a:xfrm>
            <a:off x="6492240" y="1847088"/>
            <a:ext cx="4892040" cy="320040"/>
          </a:xfrm>
          <a:prstGeom prst="rect">
            <a:avLst/>
          </a:prstGeom>
          <a:noFill/>
        </p:spPr>
        <p:txBody>
          <a:bodyPr wrap="square" lIns="13716" tIns="0" rIns="13716" bIns="0">
            <a:spAutoFit/>
          </a:bodyPr>
          <a:lstStyle/>
          <a:p>
            <a:pPr>
              <a:spcAft>
                <a:spcPts val="300"/>
              </a:spcAft>
              <a:defRPr sz="1200" b="1">
                <a:solidFill>
                  <a:srgbClr val="9AA4B2"/>
                </a:solidFill>
                <a:latin typeface="Inter"/>
              </a:defRPr>
            </a:pPr>
            <a:r>
              <a:t>LESSONS FROM THE FIXES</a:t>
            </a:r>
          </a:p>
        </p:txBody>
      </p:sp>
      <p:sp>
        <p:nvSpPr>
          <p:cNvPr id="11" name="TextBox 10"/>
          <p:cNvSpPr txBox="1"/>
          <p:nvPr/>
        </p:nvSpPr>
        <p:spPr>
          <a:xfrm>
            <a:off x="777240" y="2423160"/>
            <a:ext cx="5029200" cy="512064"/>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Anyone can pay to level up</a:t>
            </a:r>
          </a:p>
        </p:txBody>
      </p:sp>
      <p:sp>
        <p:nvSpPr>
          <p:cNvPr id="12" name="TextBox 11"/>
          <p:cNvSpPr txBox="1"/>
          <p:nvPr/>
        </p:nvSpPr>
        <p:spPr>
          <a:xfrm>
            <a:off x="777240" y="3017520"/>
            <a:ext cx="5029200" cy="512064"/>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PvP wins on 71% of rolls</a:t>
            </a:r>
          </a:p>
        </p:txBody>
      </p:sp>
      <p:sp>
        <p:nvSpPr>
          <p:cNvPr id="13" name="TextBox 12"/>
          <p:cNvSpPr txBox="1"/>
          <p:nvPr/>
        </p:nvSpPr>
        <p:spPr>
          <a:xfrm>
            <a:off x="777240" y="3611880"/>
            <a:ext cx="5029200" cy="512064"/>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Randomness is predictable</a:t>
            </a:r>
          </a:p>
        </p:txBody>
      </p:sp>
      <p:sp>
        <p:nvSpPr>
          <p:cNvPr id="14" name="TextBox 13"/>
          <p:cNvSpPr txBox="1"/>
          <p:nvPr/>
        </p:nvSpPr>
        <p:spPr>
          <a:xfrm>
            <a:off x="777240" y="4206240"/>
            <a:ext cx="5029200" cy="512064"/>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Open genes allow easy opponents</a:t>
            </a:r>
          </a:p>
        </p:txBody>
      </p:sp>
      <p:sp>
        <p:nvSpPr>
          <p:cNvPr id="15" name="TextBox 14"/>
          <p:cNvSpPr txBox="1"/>
          <p:nvPr/>
        </p:nvSpPr>
        <p:spPr>
          <a:xfrm>
            <a:off x="777240" y="4800600"/>
            <a:ext cx="5029200" cy="512064"/>
          </a:xfrm>
          <a:prstGeom prst="rect">
            <a:avLst/>
          </a:prstGeom>
          <a:noFill/>
        </p:spPr>
        <p:txBody>
          <a:bodyPr wrap="square" lIns="13716" tIns="0" rIns="13716" bIns="0">
            <a:spAutoFit/>
          </a:bodyPr>
          <a:lstStyle/>
          <a:p>
            <a:pPr>
              <a:spcAft>
                <a:spcPts val="300"/>
              </a:spcAft>
              <a:defRPr sz="1800" b="0">
                <a:solidFill>
                  <a:srgbClr val="E8ECF1"/>
                </a:solidFill>
                <a:latin typeface="Inter"/>
              </a:defRPr>
            </a:pPr>
            <a:r>
              <a:t>Self-attack remains possible on-chain</a:t>
            </a:r>
          </a:p>
        </p:txBody>
      </p:sp>
      <p:sp>
        <p:nvSpPr>
          <p:cNvPr id="16" name="TextBox 15"/>
          <p:cNvSpPr txBox="1"/>
          <p:nvPr/>
        </p:nvSpPr>
        <p:spPr>
          <a:xfrm>
            <a:off x="6492240" y="2423160"/>
            <a:ext cx="4892040" cy="320040"/>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Ownership invariants</a:t>
            </a:r>
          </a:p>
        </p:txBody>
      </p:sp>
      <p:sp>
        <p:nvSpPr>
          <p:cNvPr id="17" name="TextBox 16"/>
          <p:cNvSpPr txBox="1"/>
          <p:nvPr/>
        </p:nvSpPr>
        <p:spPr>
          <a:xfrm>
            <a:off x="6492240" y="2843784"/>
            <a:ext cx="4892040" cy="54864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Check both balances and clear approvals.</a:t>
            </a:r>
          </a:p>
        </p:txBody>
      </p:sp>
      <p:sp>
        <p:nvSpPr>
          <p:cNvPr id="18" name="TextBox 17"/>
          <p:cNvSpPr txBox="1"/>
          <p:nvPr/>
        </p:nvSpPr>
        <p:spPr>
          <a:xfrm>
            <a:off x="6492240" y="3447288"/>
            <a:ext cx="4892040" cy="320040"/>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Consistent preconditions</a:t>
            </a:r>
          </a:p>
        </p:txBody>
      </p:sp>
      <p:sp>
        <p:nvSpPr>
          <p:cNvPr id="19" name="TextBox 18"/>
          <p:cNvSpPr txBox="1"/>
          <p:nvPr/>
        </p:nvSpPr>
        <p:spPr>
          <a:xfrm>
            <a:off x="6492240" y="3867912"/>
            <a:ext cx="4892040" cy="54864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Validate readiness before either outcome.</a:t>
            </a:r>
          </a:p>
        </p:txBody>
      </p:sp>
      <p:sp>
        <p:nvSpPr>
          <p:cNvPr id="20" name="TextBox 19"/>
          <p:cNvSpPr txBox="1"/>
          <p:nvPr/>
        </p:nvSpPr>
        <p:spPr>
          <a:xfrm>
            <a:off x="6492240" y="4471416"/>
            <a:ext cx="4892040" cy="320040"/>
          </a:xfrm>
          <a:prstGeom prst="rect">
            <a:avLst/>
          </a:prstGeom>
          <a:noFill/>
        </p:spPr>
        <p:txBody>
          <a:bodyPr wrap="square" lIns="13716" tIns="0" rIns="13716" bIns="0">
            <a:spAutoFit/>
          </a:bodyPr>
          <a:lstStyle/>
          <a:p>
            <a:pPr>
              <a:spcAft>
                <a:spcPts val="300"/>
              </a:spcAft>
              <a:defRPr sz="2000" b="1">
                <a:solidFill>
                  <a:srgbClr val="E8ECF1"/>
                </a:solidFill>
                <a:latin typeface="Space Grotesk"/>
              </a:defRPr>
            </a:pPr>
            <a:r>
              <a:t>Observable outcomes</a:t>
            </a:r>
          </a:p>
        </p:txBody>
      </p:sp>
      <p:sp>
        <p:nvSpPr>
          <p:cNvPr id="21" name="TextBox 20"/>
          <p:cNvSpPr txBox="1"/>
          <p:nvPr/>
        </p:nvSpPr>
        <p:spPr>
          <a:xfrm>
            <a:off x="6492240" y="4892040"/>
            <a:ext cx="4892040" cy="54864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Use receipts and events to explain state.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54864" cy="630936"/>
          </a:xfrm>
          <a:prstGeom prst="rect">
            <a:avLst/>
          </a:prstGeom>
          <a:solidFill>
            <a:srgbClr val="39FF88"/>
          </a:solidFill>
          <a:ln w="9525">
            <a:solidFill>
              <a:srgbClr val="39FF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58952" y="457200"/>
            <a:ext cx="10835640" cy="822960"/>
          </a:xfrm>
          <a:prstGeom prst="rect">
            <a:avLst/>
          </a:prstGeom>
          <a:noFill/>
        </p:spPr>
        <p:txBody>
          <a:bodyPr wrap="square" lIns="13716" tIns="0" rIns="13716" bIns="0">
            <a:spAutoFit/>
          </a:bodyPr>
          <a:lstStyle/>
          <a:p>
            <a:pPr>
              <a:spcAft>
                <a:spcPts val="300"/>
              </a:spcAft>
              <a:defRPr sz="3600" b="1">
                <a:solidFill>
                  <a:srgbClr val="E8ECF1"/>
                </a:solidFill>
                <a:latin typeface="Space Grotesk"/>
              </a:defRPr>
            </a:pPr>
            <a:r>
              <a:t>Questions?</a:t>
            </a:r>
          </a:p>
        </p:txBody>
      </p:sp>
      <p:cxnSp>
        <p:nvCxnSpPr>
          <p:cNvPr id="4" name="Connector 3"/>
          <p:cNvCxnSpPr/>
          <p:nvPr/>
        </p:nvCxnSpPr>
        <p:spPr>
          <a:xfrm>
            <a:off x="548640" y="6364224"/>
            <a:ext cx="11091672" cy="0"/>
          </a:xfrm>
          <a:prstGeom prst="line">
            <a:avLst/>
          </a:prstGeom>
          <a:ln w="19050">
            <a:solidFill>
              <a:srgbClr val="262C3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473952"/>
            <a:ext cx="4572000" cy="201168"/>
          </a:xfrm>
          <a:prstGeom prst="rect">
            <a:avLst/>
          </a:prstGeom>
          <a:noFill/>
        </p:spPr>
        <p:txBody>
          <a:bodyPr wrap="square" lIns="13716" tIns="0" rIns="13716" bIns="0">
            <a:spAutoFit/>
          </a:bodyPr>
          <a:lstStyle/>
          <a:p>
            <a:pPr>
              <a:spcAft>
                <a:spcPts val="300"/>
              </a:spcAft>
              <a:defRPr sz="1200" b="0">
                <a:solidFill>
                  <a:srgbClr val="9AA4B2"/>
                </a:solidFill>
                <a:latin typeface="Inter"/>
              </a:defRPr>
            </a:pPr>
            <a:r>
              <a:t>ZOMBIENEXUS</a:t>
            </a:r>
          </a:p>
        </p:txBody>
      </p:sp>
      <p:sp>
        <p:nvSpPr>
          <p:cNvPr id="6" name="TextBox 5"/>
          <p:cNvSpPr txBox="1"/>
          <p:nvPr/>
        </p:nvSpPr>
        <p:spPr>
          <a:xfrm>
            <a:off x="10972800" y="6473952"/>
            <a:ext cx="667512" cy="201168"/>
          </a:xfrm>
          <a:prstGeom prst="rect">
            <a:avLst/>
          </a:prstGeom>
          <a:noFill/>
        </p:spPr>
        <p:txBody>
          <a:bodyPr wrap="square" lIns="13716" tIns="0" rIns="13716" bIns="0">
            <a:spAutoFit/>
          </a:bodyPr>
          <a:lstStyle/>
          <a:p>
            <a:pPr algn="r">
              <a:spcAft>
                <a:spcPts val="300"/>
              </a:spcAft>
              <a:defRPr sz="1200" b="0">
                <a:solidFill>
                  <a:srgbClr val="9AA4B2"/>
                </a:solidFill>
                <a:latin typeface="Inter"/>
              </a:defRPr>
            </a:pPr>
            <a:r>
              <a:t>14</a:t>
            </a:r>
          </a:p>
        </p:txBody>
      </p:sp>
      <p:sp>
        <p:nvSpPr>
          <p:cNvPr id="7" name="TextBox 6"/>
          <p:cNvSpPr txBox="1"/>
          <p:nvPr/>
        </p:nvSpPr>
        <p:spPr>
          <a:xfrm>
            <a:off x="777240" y="1664208"/>
            <a:ext cx="3749039" cy="1280160"/>
          </a:xfrm>
          <a:prstGeom prst="rect">
            <a:avLst/>
          </a:prstGeom>
          <a:noFill/>
        </p:spPr>
        <p:txBody>
          <a:bodyPr wrap="square" lIns="13716" tIns="0" rIns="13716" bIns="0">
            <a:spAutoFit/>
          </a:bodyPr>
          <a:lstStyle/>
          <a:p>
            <a:pPr>
              <a:spcAft>
                <a:spcPts val="300"/>
              </a:spcAft>
              <a:defRPr sz="7600" b="1">
                <a:solidFill>
                  <a:srgbClr val="39FF88"/>
                </a:solidFill>
                <a:latin typeface="Space Grotesk"/>
              </a:defRPr>
            </a:pPr>
            <a:r>
              <a:t>Q&amp;A</a:t>
            </a:r>
          </a:p>
        </p:txBody>
      </p:sp>
      <p:sp>
        <p:nvSpPr>
          <p:cNvPr id="8" name="Rounded Rectangle 7"/>
          <p:cNvSpPr/>
          <p:nvPr/>
        </p:nvSpPr>
        <p:spPr>
          <a:xfrm>
            <a:off x="4206240" y="1609344"/>
            <a:ext cx="7434072" cy="3474720"/>
          </a:xfrm>
          <a:prstGeom prst="roundRect">
            <a:avLst>
              <a:gd name="adj" fmla="val 8000"/>
            </a:avLst>
          </a:prstGeom>
          <a:solidFill>
            <a:srgbClr val="12151A">
              <a:alpha val="77000"/>
            </a:srgbClr>
          </a:solidFill>
          <a:ln w="9525">
            <a:solidFill>
              <a:srgbClr val="262C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43984" y="2084831"/>
            <a:ext cx="6949440" cy="438912"/>
          </a:xfrm>
          <a:prstGeom prst="rect">
            <a:avLst/>
          </a:prstGeom>
          <a:noFill/>
        </p:spPr>
        <p:txBody>
          <a:bodyPr wrap="square" lIns="13716" tIns="0" rIns="13716" bIns="0">
            <a:spAutoFit/>
          </a:bodyPr>
          <a:lstStyle/>
          <a:p>
            <a:pPr>
              <a:spcAft>
                <a:spcPts val="300"/>
              </a:spcAft>
              <a:defRPr sz="2400" b="1">
                <a:solidFill>
                  <a:srgbClr val="E8ECF1"/>
                </a:solidFill>
                <a:latin typeface="Space Grotesk"/>
              </a:defRPr>
            </a:pPr>
            <a:r>
              <a:t>Dhruvi Kothari</a:t>
            </a:r>
          </a:p>
        </p:txBody>
      </p:sp>
      <p:sp>
        <p:nvSpPr>
          <p:cNvPr id="10" name="TextBox 9"/>
          <p:cNvSpPr txBox="1"/>
          <p:nvPr/>
        </p:nvSpPr>
        <p:spPr>
          <a:xfrm>
            <a:off x="4443984" y="2642615"/>
            <a:ext cx="6949440" cy="36576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CWID: 874294333</a:t>
            </a:r>
          </a:p>
        </p:txBody>
      </p:sp>
      <p:sp>
        <p:nvSpPr>
          <p:cNvPr id="11" name="TextBox 10"/>
          <p:cNvSpPr txBox="1"/>
          <p:nvPr/>
        </p:nvSpPr>
        <p:spPr>
          <a:xfrm>
            <a:off x="4443984" y="3456432"/>
            <a:ext cx="6949440" cy="438912"/>
          </a:xfrm>
          <a:prstGeom prst="rect">
            <a:avLst/>
          </a:prstGeom>
          <a:noFill/>
        </p:spPr>
        <p:txBody>
          <a:bodyPr wrap="square" lIns="13716" tIns="0" rIns="13716" bIns="0">
            <a:spAutoFit/>
          </a:bodyPr>
          <a:lstStyle/>
          <a:p>
            <a:pPr>
              <a:spcAft>
                <a:spcPts val="300"/>
              </a:spcAft>
              <a:defRPr sz="2400" b="1">
                <a:solidFill>
                  <a:srgbClr val="E8ECF1"/>
                </a:solidFill>
                <a:latin typeface="Space Grotesk"/>
              </a:defRPr>
            </a:pPr>
            <a:r>
              <a:t>Het Siddhapura</a:t>
            </a:r>
          </a:p>
        </p:txBody>
      </p:sp>
      <p:sp>
        <p:nvSpPr>
          <p:cNvPr id="12" name="TextBox 11"/>
          <p:cNvSpPr txBox="1"/>
          <p:nvPr/>
        </p:nvSpPr>
        <p:spPr>
          <a:xfrm>
            <a:off x="4443984" y="4014215"/>
            <a:ext cx="6949440" cy="36576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CWID: 826929101</a:t>
            </a:r>
          </a:p>
        </p:txBody>
      </p:sp>
      <p:sp>
        <p:nvSpPr>
          <p:cNvPr id="13" name="TextBox 12"/>
          <p:cNvSpPr txBox="1"/>
          <p:nvPr/>
        </p:nvSpPr>
        <p:spPr>
          <a:xfrm>
            <a:off x="777240" y="5449824"/>
            <a:ext cx="10698480" cy="365760"/>
          </a:xfrm>
          <a:prstGeom prst="rect">
            <a:avLst/>
          </a:prstGeom>
          <a:noFill/>
        </p:spPr>
        <p:txBody>
          <a:bodyPr wrap="square" lIns="13716" tIns="0" rIns="13716" bIns="0">
            <a:spAutoFit/>
          </a:bodyPr>
          <a:lstStyle/>
          <a:p>
            <a:pPr>
              <a:spcAft>
                <a:spcPts val="300"/>
              </a:spcAft>
              <a:defRPr sz="1800" b="0">
                <a:solidFill>
                  <a:srgbClr val="E8ECF1"/>
                </a:solidFill>
                <a:latin typeface="Menlo"/>
              </a:defRPr>
            </a:pPr>
            <a:r>
              <a:t>[GITHUB_REPO_URL]</a:t>
            </a:r>
          </a:p>
        </p:txBody>
      </p:sp>
      <p:sp>
        <p:nvSpPr>
          <p:cNvPr id="14" name="TextBox 13"/>
          <p:cNvSpPr txBox="1"/>
          <p:nvPr/>
        </p:nvSpPr>
        <p:spPr>
          <a:xfrm>
            <a:off x="777240" y="5934456"/>
            <a:ext cx="10698480" cy="320040"/>
          </a:xfrm>
          <a:prstGeom prst="rect">
            <a:avLst/>
          </a:prstGeom>
          <a:noFill/>
        </p:spPr>
        <p:txBody>
          <a:bodyPr wrap="square" lIns="13716" tIns="0" rIns="13716" bIns="0">
            <a:spAutoFit/>
          </a:bodyPr>
          <a:lstStyle/>
          <a:p>
            <a:pPr>
              <a:spcAft>
                <a:spcPts val="300"/>
              </a:spcAft>
              <a:defRPr sz="1800" b="0">
                <a:solidFill>
                  <a:srgbClr val="9AA4B2"/>
                </a:solidFill>
                <a:latin typeface="Inter"/>
              </a:defRPr>
            </a:pPr>
            <a:r>
              <a:t>Run it: npm run setup, npm run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2967</Words>
  <Application>Microsoft Macintosh PowerPoint</Application>
  <PresentationFormat>Widescreen</PresentationFormat>
  <Paragraphs>372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ZOMBIENEXUS</dc:title>
  <dc:subject/>
  <dc:creator/>
  <cp:keywords/>
  <dc:description>generated using python-pptx</dc:description>
  <cp:lastModifiedBy>Kothari, Dhruvi Kartikbhai</cp:lastModifiedBy>
  <cp:revision>2</cp:revision>
  <dcterms:created xsi:type="dcterms:W3CDTF">2013-01-27T09:14:16Z</dcterms:created>
  <dcterms:modified xsi:type="dcterms:W3CDTF">2026-10-19T01:25:43Z</dcterms:modified>
  <cp:category/>
</cp:coreProperties>
</file>